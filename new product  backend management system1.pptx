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B4AA8-BFC3-4587-A51B-0362BE6DD54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9116A-D486-476A-88D9-920CA28B9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3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方案结构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9116A-D486-476A-88D9-920CA28B98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6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和其他方案对比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9116A-D486-476A-88D9-920CA28B98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5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427A-1FAA-00BE-B733-976C6F3E2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86CAC-A5DB-53B3-8051-70DEB76D5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CC83-F480-A1B3-163A-B1A985A8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51CE-5CDE-F9DB-2705-7DF05584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E24CD-0754-8F63-E31E-E2FDA493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9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04A9-7970-2CD9-62F6-EF41B591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92B3-5B76-ADA8-0E1B-3268A27E2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A521D-2221-86CE-31CC-EAD19762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1A53B-7107-0A13-1A70-38EF0401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99A89-77B5-D27D-AE66-817EAB4C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3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F3D0-B10B-74CB-9BB4-26C64A7C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A3068-4252-D568-8F0E-669478558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F504-FB4E-977D-53A4-DAB32F6F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61926-7516-92BC-C0F9-B47DEEC0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C3DC-81A1-8985-E15B-533C89CD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8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EB87-B976-1D44-FC8A-16A26F18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91B0A-A0BB-695D-2F6D-7948C31F2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50C80-B415-439D-2FFD-92418DD3C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2F0BA-A9CE-3C2E-AA83-BB1BBD96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AF5D7-D97F-36AB-F08D-41995DD7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AE0C5-64AD-AA01-64BA-E22A906A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1D89-4F67-DB25-B627-80D70DDB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6E851-91BB-6198-E780-5BB0A8C42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A26F5-6680-16F3-39C2-3FECF6851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F1B28-E128-B2AC-43E5-2E5C0C95C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2DFC5-F59C-5ECD-05DD-82389F3FE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F3C51-DD60-115D-96BA-A5ACA899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48AFA-7918-3294-0ADA-C6CEF976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2535C-6569-0C36-CDCC-01E20AC6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0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FC5D-07B0-311A-1CC8-552B2C63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49736-E008-8E58-B72B-695D0726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9D8F-3FE7-47F1-8EB3-7FA3D9AD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0352-D009-0E93-D813-13A4B95C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8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0F7EB4-B799-B349-252D-8FD73672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3210E-2BE6-BD35-51EE-0E99D874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6B05-804B-688A-C6DA-2AE7B93D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1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2E16-AC40-97B1-7F47-D00128BA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61ACA-84F8-68C5-F81F-F667359B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8A818-304F-B30A-1840-0D99EDA61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E8296-1FFD-EC09-287A-2F91DE34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F9B2D-AC82-5A46-42A6-75D1BA21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E6186-04B3-AF18-1FF9-EF72790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3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909A-B125-84EB-24CF-16CDBE0B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C86DDF-306C-AA7C-BD49-F9BAFAEBC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84DF1-9B0F-DAEA-2514-3806A6E35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0626B-DEC9-B12D-4367-A3105A44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F770D-62AF-FDC6-395C-B5DFFC3F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1FF60-FA3B-44C1-5BB9-75179ABF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3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218A-6CE2-F9B7-DC46-08A7C19F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8F11D-5FF6-3298-0539-391856DA7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C3033-21C0-1434-FD60-ECC92369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DC51-73E9-8F33-D336-33F02EE1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0C813-EDA2-A8D1-69AA-412AE10F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2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5024E-3461-9A8E-44F4-CB7DA6BE8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B1AD4-6835-9A83-05B2-707137383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8A9E-AEA9-9B23-6912-BC72E21D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A2AF-98D1-A33D-EA8E-C3037314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D8F12-1353-9F23-E265-02F6D1BC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9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A2190-1C69-8585-D24F-17A4368C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22D2A-D8C7-C07A-3C4F-AE8C2D22F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E946-397B-4701-763B-6313DDD7C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79251-8753-4B97-B32B-29F51561DF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2653B-F9FD-FC81-C9C2-42E482AA5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3D8D5-6E99-464B-2FC5-67CC6825A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F1392E-42A9-4E81-B44D-4381EA5E71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D1B5D-B2F0-5BFF-CAD0-8D8C14A06E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0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416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804F-B2E5-0D22-AB67-78F567498E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New Product</a:t>
            </a:r>
            <a:r>
              <a:rPr lang="zh-CN" altLang="en-US" dirty="0"/>
              <a:t>自动化测试平台方案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C6D43-C221-27E7-5C3F-0BCE37C5B0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从手工繁琐到简易化测试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29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FA0E-A76C-E70B-5F9A-4E1B379B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 现状痛点</a:t>
            </a:r>
            <a:br>
              <a:rPr lang="zh-CN" altLang="en-US" b="1" dirty="0"/>
            </a:br>
            <a:r>
              <a:rPr lang="zh-CN" altLang="en-US" dirty="0"/>
              <a:t>当前测试现状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A56D9-D7EE-BFAE-1557-832DF9F95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测试边界的</a:t>
            </a:r>
            <a:r>
              <a:rPr lang="en-US" altLang="zh-CN" dirty="0"/>
              <a:t>case</a:t>
            </a:r>
            <a:r>
              <a:rPr lang="zh-CN" altLang="en-US" dirty="0"/>
              <a:t>用例多，执行周期长</a:t>
            </a:r>
          </a:p>
          <a:p>
            <a:r>
              <a:rPr lang="zh-CN" altLang="en-US" dirty="0"/>
              <a:t>复杂的单用例耗时高（比如</a:t>
            </a:r>
            <a:r>
              <a:rPr lang="en-US" altLang="zh-CN" dirty="0"/>
              <a:t>phi</a:t>
            </a:r>
            <a:r>
              <a:rPr lang="zh-CN" altLang="en-US" dirty="0"/>
              <a:t>的</a:t>
            </a:r>
            <a:r>
              <a:rPr lang="en-US" altLang="zh-CN" dirty="0"/>
              <a:t>case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多种产品的覆盖率不足</a:t>
            </a:r>
            <a:r>
              <a:rPr lang="en-US" altLang="zh-CN" dirty="0"/>
              <a:t>(</a:t>
            </a:r>
            <a:r>
              <a:rPr lang="zh-CN" altLang="en-US" dirty="0"/>
              <a:t>多个</a:t>
            </a:r>
            <a:r>
              <a:rPr lang="en-US" altLang="zh-CN" dirty="0"/>
              <a:t>regular pay</a:t>
            </a:r>
            <a:r>
              <a:rPr lang="zh-CN" altLang="en-US" dirty="0"/>
              <a:t>的产品，一般不会全部测试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手工易漏填 </a:t>
            </a:r>
            <a:r>
              <a:rPr lang="en-US" altLang="zh-CN" dirty="0"/>
              <a:t>/ </a:t>
            </a:r>
            <a:r>
              <a:rPr lang="zh-CN" altLang="en-US" dirty="0"/>
              <a:t>截图分散</a:t>
            </a:r>
            <a:endParaRPr lang="en-US" altLang="zh-CN" dirty="0"/>
          </a:p>
          <a:p>
            <a:r>
              <a:rPr lang="zh-CN" altLang="en-US" dirty="0"/>
              <a:t>现在做</a:t>
            </a:r>
            <a:r>
              <a:rPr lang="en-US" altLang="zh-CN" dirty="0"/>
              <a:t>UT </a:t>
            </a:r>
            <a:r>
              <a:rPr lang="zh-CN" altLang="en-US" dirty="0"/>
              <a:t>文档和</a:t>
            </a:r>
            <a:r>
              <a:rPr lang="en-US" altLang="zh-CN" dirty="0"/>
              <a:t>TC </a:t>
            </a:r>
            <a:r>
              <a:rPr lang="zh-CN" altLang="en-US" dirty="0"/>
              <a:t>文档花费时间较多，且</a:t>
            </a:r>
            <a:r>
              <a:rPr lang="en-US" altLang="zh-CN" dirty="0"/>
              <a:t>review</a:t>
            </a:r>
            <a:r>
              <a:rPr lang="zh-CN" altLang="en-US" dirty="0"/>
              <a:t>也需要花费更多的时间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71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C7C4-5B12-3BA3-653D-A0A4D371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 改进目标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FD-1F40-D426-62DE-161AB251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回归耗时降低</a:t>
            </a:r>
            <a:endParaRPr lang="en-US" altLang="zh-CN" dirty="0"/>
          </a:p>
          <a:p>
            <a:r>
              <a:rPr lang="zh-CN" altLang="en-US" dirty="0"/>
              <a:t>覆盖率提升 </a:t>
            </a:r>
            <a:endParaRPr lang="en-US" altLang="zh-CN" dirty="0"/>
          </a:p>
          <a:p>
            <a:r>
              <a:rPr lang="zh-CN" altLang="en-US" dirty="0"/>
              <a:t>报告统一、自动生成，减少</a:t>
            </a:r>
            <a:r>
              <a:rPr lang="en-US" altLang="zh-CN" dirty="0"/>
              <a:t>efforts</a:t>
            </a:r>
            <a:endParaRPr lang="zh-CN" altLang="en-US" dirty="0"/>
          </a:p>
          <a:p>
            <a:r>
              <a:rPr lang="zh-CN" altLang="en-US" dirty="0"/>
              <a:t>可一键多</a:t>
            </a:r>
            <a:r>
              <a:rPr lang="en-US" altLang="zh-CN" dirty="0"/>
              <a:t>case</a:t>
            </a:r>
            <a:r>
              <a:rPr lang="zh-CN" altLang="en-US" dirty="0"/>
              <a:t>批量执行</a:t>
            </a:r>
            <a:endParaRPr lang="en-US" altLang="zh-CN" dirty="0"/>
          </a:p>
          <a:p>
            <a:r>
              <a:rPr lang="zh-CN" altLang="en-US" dirty="0"/>
              <a:t>通过参数化驱动自动化达成效率与质量双提升。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5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A18C-BCA4-3C3E-C6BB-701C6872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5F37-E50F-C65E-37AC-4C75A59F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zh-CN" altLang="en-US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15302-08B6-C3D8-FC24-9ACFCFCA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29540"/>
            <a:ext cx="11982450" cy="617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1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AE4664-3E1C-6780-B06A-F95AB2B22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277569"/>
              </p:ext>
            </p:extLst>
          </p:nvPr>
        </p:nvGraphicFramePr>
        <p:xfrm>
          <a:off x="251460" y="121920"/>
          <a:ext cx="11597641" cy="6141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5482">
                  <a:extLst>
                    <a:ext uri="{9D8B030D-6E8A-4147-A177-3AD203B41FA5}">
                      <a16:colId xmlns:a16="http://schemas.microsoft.com/office/drawing/2014/main" val="1550968483"/>
                    </a:ext>
                  </a:extLst>
                </a:gridCol>
                <a:gridCol w="2264147">
                  <a:extLst>
                    <a:ext uri="{9D8B030D-6E8A-4147-A177-3AD203B41FA5}">
                      <a16:colId xmlns:a16="http://schemas.microsoft.com/office/drawing/2014/main" val="1854127772"/>
                    </a:ext>
                  </a:extLst>
                </a:gridCol>
                <a:gridCol w="2622499">
                  <a:extLst>
                    <a:ext uri="{9D8B030D-6E8A-4147-A177-3AD203B41FA5}">
                      <a16:colId xmlns:a16="http://schemas.microsoft.com/office/drawing/2014/main" val="735690069"/>
                    </a:ext>
                  </a:extLst>
                </a:gridCol>
                <a:gridCol w="3192609">
                  <a:extLst>
                    <a:ext uri="{9D8B030D-6E8A-4147-A177-3AD203B41FA5}">
                      <a16:colId xmlns:a16="http://schemas.microsoft.com/office/drawing/2014/main" val="4092083936"/>
                    </a:ext>
                  </a:extLst>
                </a:gridCol>
                <a:gridCol w="1742904">
                  <a:extLst>
                    <a:ext uri="{9D8B030D-6E8A-4147-A177-3AD203B41FA5}">
                      <a16:colId xmlns:a16="http://schemas.microsoft.com/office/drawing/2014/main" val="1446722737"/>
                    </a:ext>
                  </a:extLst>
                </a:gridCol>
              </a:tblGrid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维度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传统手工方式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Katalon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自建参数化</a:t>
                      </a:r>
                      <a:r>
                        <a:rPr lang="en-US" altLang="zh-CN" sz="800" u="none" strike="noStrike">
                          <a:effectLst/>
                        </a:rPr>
                        <a:t>Python</a:t>
                      </a:r>
                      <a:r>
                        <a:rPr lang="zh-CN" altLang="en-US" sz="800" u="none" strike="noStrike">
                          <a:effectLst/>
                        </a:rPr>
                        <a:t>集成方案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备注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说明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608147862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系统集成深度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独立脚本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人工步骤，无法嵌入管理系统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外部工具，结果需跳转或二次嵌入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原生嵌入后台管理系统（统一权限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菜单）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减少上下文切换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242237016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兼容与扩展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流程随人变化，难规范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功能固定，深度流程定制受限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可按业务流程与数据模型深度定制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灵活度高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228786653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初始建设成本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低（直接人工做）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许可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安装配置（小时级）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一次性框架开发（人时高）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长期摊薄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22780960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脚本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技术栈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无（人工）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Groovy/Java</a:t>
                      </a:r>
                      <a:r>
                        <a:rPr lang="zh-CN" altLang="en-US" sz="800" u="none" strike="noStrike">
                          <a:effectLst/>
                        </a:rPr>
                        <a:t>关键字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Python</a:t>
                      </a:r>
                      <a:r>
                        <a:rPr lang="zh-CN" altLang="en-US" sz="800" u="none" strike="noStrike">
                          <a:effectLst/>
                        </a:rPr>
                        <a:t>（可扩展多语言）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Python</a:t>
                      </a:r>
                      <a:r>
                        <a:rPr lang="zh-CN" altLang="en-US" sz="800" u="none" strike="noStrike">
                          <a:effectLst/>
                        </a:rPr>
                        <a:t>生态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751089795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用例创建方式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Excel/</a:t>
                      </a:r>
                      <a:r>
                        <a:rPr lang="zh-CN" altLang="en-US" sz="800" u="none" strike="noStrike">
                          <a:effectLst/>
                        </a:rPr>
                        <a:t>文档手写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录制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关键字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脚本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结构化</a:t>
                      </a:r>
                      <a:r>
                        <a:rPr lang="en-US" altLang="zh-CN" sz="800" u="none" strike="noStrike">
                          <a:effectLst/>
                        </a:rPr>
                        <a:t>Intake</a:t>
                      </a:r>
                      <a:r>
                        <a:rPr lang="zh-CN" altLang="en-US" sz="800" u="none" strike="noStrike">
                          <a:effectLst/>
                        </a:rPr>
                        <a:t>模板</a:t>
                      </a:r>
                      <a:r>
                        <a:rPr lang="en-US" altLang="zh-CN" sz="800" u="none" strike="noStrike">
                          <a:effectLst/>
                        </a:rPr>
                        <a:t>+JSON</a:t>
                      </a:r>
                      <a:r>
                        <a:rPr lang="zh-CN" altLang="en-US" sz="800" u="none" strike="noStrike">
                          <a:effectLst/>
                        </a:rPr>
                        <a:t>参数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减少重复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650546041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参数管理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分散手填易错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数据文件支持但校验弱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集中</a:t>
                      </a:r>
                      <a:r>
                        <a:rPr lang="en-US" sz="800" u="none" strike="noStrike">
                          <a:effectLst/>
                        </a:rPr>
                        <a:t>JSON Schema</a:t>
                      </a:r>
                      <a:r>
                        <a:rPr lang="zh-CN" altLang="en-US" sz="800" u="none" strike="noStrike">
                          <a:effectLst/>
                        </a:rPr>
                        <a:t>校验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版本化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错误率降低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426597125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元素维护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人工找定位符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智能定位但批量更新有限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差异检测自动更新选择器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UI</a:t>
                      </a:r>
                      <a:r>
                        <a:rPr lang="zh-CN" altLang="en-US" sz="800" u="none" strike="noStrike" dirty="0">
                          <a:effectLst/>
                        </a:rPr>
                        <a:t>定位速度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4223965138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批量执行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逐条执行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测试套件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集合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一键多</a:t>
                      </a:r>
                      <a:r>
                        <a:rPr lang="en-US" altLang="zh-CN" sz="800" u="none" strike="noStrike">
                          <a:effectLst/>
                        </a:rPr>
                        <a:t>Case</a:t>
                      </a:r>
                      <a:r>
                        <a:rPr lang="zh-CN" altLang="en-US" sz="800" u="none" strike="noStrike">
                          <a:effectLst/>
                        </a:rPr>
                        <a:t>批量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调度策略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吞吐提升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3623841396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执行触发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人工操作多步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界面点击</a:t>
                      </a:r>
                      <a:r>
                        <a:rPr lang="en-US" altLang="zh-CN" sz="800" u="none" strike="noStrike">
                          <a:effectLst/>
                        </a:rPr>
                        <a:t>/CI</a:t>
                      </a:r>
                      <a:r>
                        <a:rPr lang="zh-CN" altLang="en-US" sz="800" u="none" strike="noStrike">
                          <a:effectLst/>
                        </a:rPr>
                        <a:t>触发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系统内按钮</a:t>
                      </a:r>
                      <a:r>
                        <a:rPr lang="en-US" altLang="zh-CN" sz="800" u="none" strike="noStrike">
                          <a:effectLst/>
                        </a:rPr>
                        <a:t>+API+</a:t>
                      </a:r>
                      <a:r>
                        <a:rPr lang="zh-CN" altLang="en-US" sz="800" u="none" strike="noStrike">
                          <a:effectLst/>
                        </a:rPr>
                        <a:t>计划任务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自动化程度高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3981519676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单用例平均耗时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25</a:t>
                      </a:r>
                      <a:r>
                        <a:rPr lang="zh-CN" altLang="en-US" sz="800" u="none" strike="noStrike">
                          <a:effectLst/>
                        </a:rPr>
                        <a:t>分钟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18</a:t>
                      </a:r>
                      <a:r>
                        <a:rPr lang="zh-CN" altLang="en-US" sz="800" u="none" strike="noStrike">
                          <a:effectLst/>
                        </a:rPr>
                        <a:t>分钟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5</a:t>
                      </a:r>
                      <a:r>
                        <a:rPr lang="zh-CN" altLang="en-US" sz="800" u="none" strike="noStrike">
                          <a:effectLst/>
                        </a:rPr>
                        <a:t>分钟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示例基线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031763653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覆盖率（功能路径）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65%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85%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模板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参数组合增强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3907380414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报告格式与生成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手工截图粘贴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内置</a:t>
                      </a:r>
                      <a:r>
                        <a:rPr lang="en-US" sz="800" u="none" strike="noStrike">
                          <a:effectLst/>
                        </a:rPr>
                        <a:t>HTML/PDF（Word</a:t>
                      </a:r>
                      <a:r>
                        <a:rPr lang="zh-CN" altLang="en-US" sz="800" u="none" strike="noStrike">
                          <a:effectLst/>
                        </a:rPr>
                        <a:t>需另处理）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可定制</a:t>
                      </a:r>
                      <a:r>
                        <a:rPr lang="en-US" sz="800" u="none" strike="noStrike">
                          <a:effectLst/>
                        </a:rPr>
                        <a:t>Word/PDF/HTML+</a:t>
                      </a:r>
                      <a:r>
                        <a:rPr lang="zh-CN" altLang="en-US" sz="800" u="none" strike="noStrike">
                          <a:effectLst/>
                        </a:rPr>
                        <a:t>自动</a:t>
                      </a:r>
                      <a:r>
                        <a:rPr lang="en-US" sz="800" u="none" strike="noStrike">
                          <a:effectLst/>
                        </a:rPr>
                        <a:t>UT/TC</a:t>
                      </a:r>
                      <a:r>
                        <a:rPr lang="zh-CN" altLang="en-US" sz="800" u="none" strike="noStrike">
                          <a:effectLst/>
                        </a:rPr>
                        <a:t>导出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满足评审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911514994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报告整理时间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用例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r>
                        <a:rPr lang="zh-CN" altLang="en-US" sz="800" u="none" strike="noStrike">
                          <a:effectLst/>
                        </a:rPr>
                        <a:t>分钟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zh-CN" altLang="en-US" sz="800" u="none" strike="noStrike">
                          <a:effectLst/>
                        </a:rPr>
                        <a:t>分钟（导出后调整）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0</a:t>
                      </a:r>
                      <a:r>
                        <a:rPr lang="zh-CN" altLang="en-US" sz="800" u="none" strike="noStrike">
                          <a:effectLst/>
                        </a:rPr>
                        <a:t>分钟（全自动）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人工节省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047035488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人为失误率（漏参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漏截图）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5–10%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3–5%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&lt;1%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参数校验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自动截图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243133176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证据追溯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零散文件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标准输出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截图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运行</a:t>
                      </a:r>
                      <a:r>
                        <a:rPr lang="en-US" altLang="zh-CN" sz="800" u="none" strike="noStrike">
                          <a:effectLst/>
                        </a:rPr>
                        <a:t>ID</a:t>
                      </a:r>
                      <a:r>
                        <a:rPr lang="zh-CN" altLang="en-US" sz="800" u="none" strike="noStrike">
                          <a:effectLst/>
                        </a:rPr>
                        <a:t>统一索引</a:t>
                      </a:r>
                      <a:r>
                        <a:rPr lang="en-US" altLang="zh-CN" sz="800" u="none" strike="noStrike">
                          <a:effectLst/>
                        </a:rPr>
                        <a:t>(</a:t>
                      </a:r>
                      <a:r>
                        <a:rPr lang="zh-CN" altLang="en-US" sz="800" u="none" strike="noStrike">
                          <a:effectLst/>
                        </a:rPr>
                        <a:t>参数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截图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日志</a:t>
                      </a:r>
                      <a:r>
                        <a:rPr lang="en-US" altLang="zh-CN" sz="800" u="none" strike="noStrike">
                          <a:effectLst/>
                        </a:rPr>
                        <a:t>)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定位加速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97986608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版本与审计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人工留痕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需借助</a:t>
                      </a:r>
                      <a:r>
                        <a:rPr lang="en-US" sz="800" u="none" strike="noStrike">
                          <a:effectLst/>
                        </a:rPr>
                        <a:t>Git</a:t>
                      </a:r>
                      <a:r>
                        <a:rPr lang="zh-CN" altLang="en-US" sz="800" u="none" strike="noStrike">
                          <a:effectLst/>
                        </a:rPr>
                        <a:t>或外部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内置版本冻结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审批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差异快照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追溯完善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348664025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学习曲线（使用者）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高（需理解系统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细节）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低（录制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关键字）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低（按钮触发）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使用者门槛低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630196823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学习曲线（开发维护）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无脚本结构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低到中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中（需</a:t>
                      </a:r>
                      <a:r>
                        <a:rPr lang="en-US" altLang="zh-CN" sz="800" u="none" strike="noStrike">
                          <a:effectLst/>
                        </a:rPr>
                        <a:t>Python</a:t>
                      </a:r>
                      <a:r>
                        <a:rPr lang="zh-CN" altLang="en-US" sz="800" u="none" strike="noStrike">
                          <a:effectLst/>
                        </a:rPr>
                        <a:t>框架经验）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自建劣势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538522379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失败重试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人工重跑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内置简单重试配置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策略化重试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等待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稳定性高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3655292989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可定制深度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中（受产品边界）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高（流程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报告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指标可调）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自建优势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003448080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可视化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手工统计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Katalon Analytics</a:t>
                      </a:r>
                      <a:r>
                        <a:rPr lang="zh-CN" altLang="en-US" sz="800" u="none" strike="noStrike">
                          <a:effectLst/>
                        </a:rPr>
                        <a:t>或外部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自定义仪表（耗时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覆盖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失误率）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业务贴合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3201949248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总拥有成本</a:t>
                      </a:r>
                      <a:r>
                        <a:rPr lang="en-US" altLang="zh-CN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TCO)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长期人工高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许可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维护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初期高后期低（无许可）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视使用周期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240749652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文档产出一致性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差异大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格式较统一但可编辑性有限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统一模板自动生成（</a:t>
                      </a:r>
                      <a:r>
                        <a:rPr lang="en-US" altLang="zh-CN" sz="800" u="none" strike="noStrike">
                          <a:effectLst/>
                        </a:rPr>
                        <a:t>Word</a:t>
                      </a:r>
                      <a:r>
                        <a:rPr lang="zh-CN" altLang="en-US" sz="800" u="none" strike="noStrike">
                          <a:effectLst/>
                        </a:rPr>
                        <a:t>可审阅）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评审效率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436846778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自动化成熟度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中等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可提升至高（数据驱动</a:t>
                      </a:r>
                      <a:r>
                        <a:rPr lang="en-US" altLang="zh-CN" sz="800" u="none" strike="noStrike">
                          <a:effectLst/>
                        </a:rPr>
                        <a:t>+</a:t>
                      </a:r>
                      <a:r>
                        <a:rPr lang="zh-CN" altLang="en-US" sz="800" u="none" strike="noStrike">
                          <a:effectLst/>
                        </a:rPr>
                        <a:t>证据闭环）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成长空间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1078840167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主要优势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低门槛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多测试类型快速起步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深度集成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可定制报告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高效率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选择器自动同步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—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775061151"/>
                  </a:ext>
                </a:extLst>
              </a:tr>
              <a:tr h="1949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主要劣势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效率低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易错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定制受限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仅</a:t>
                      </a:r>
                      <a:r>
                        <a:rPr lang="en-US" altLang="zh-CN" sz="800" u="none" strike="noStrike">
                          <a:effectLst/>
                        </a:rPr>
                        <a:t>PDF/</a:t>
                      </a:r>
                      <a:r>
                        <a:rPr lang="zh-CN" altLang="en-US" sz="800" u="none" strike="noStrike">
                          <a:effectLst/>
                        </a:rPr>
                        <a:t>许可成本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初期开发投入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需</a:t>
                      </a:r>
                      <a:r>
                        <a:rPr lang="en-US" altLang="zh-CN" sz="800" u="none" strike="noStrike">
                          <a:effectLst/>
                        </a:rPr>
                        <a:t>Python</a:t>
                      </a:r>
                      <a:r>
                        <a:rPr lang="zh-CN" altLang="en-US" sz="800" u="none" strike="noStrike">
                          <a:effectLst/>
                        </a:rPr>
                        <a:t>维护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选型权衡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4030657547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适用场景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低频回归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团队初期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多端快速覆盖但流程标准化要求低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需深度流程融合与质量精细化的大中型团队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56" marR="5756" marT="5756" marB="0" anchor="ctr"/>
                </a:tc>
                <a:extLst>
                  <a:ext uri="{0D108BD9-81ED-4DB2-BD59-A6C34878D82A}">
                    <a16:rowId xmlns:a16="http://schemas.microsoft.com/office/drawing/2014/main" val="222272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47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99E3-1B9A-57A7-F485-4B6E7D00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效益预估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B761-D4A3-AED5-C035-D4A91848C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altLang="zh-CN" dirty="0"/>
            </a:br>
            <a:r>
              <a:rPr lang="zh-CN" altLang="en-US" dirty="0"/>
              <a:t>。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FBE5B6-2D44-AEF8-5683-D516F3CAB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684534"/>
              </p:ext>
            </p:extLst>
          </p:nvPr>
        </p:nvGraphicFramePr>
        <p:xfrm>
          <a:off x="891540" y="1333500"/>
          <a:ext cx="8907779" cy="2994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1912">
                  <a:extLst>
                    <a:ext uri="{9D8B030D-6E8A-4147-A177-3AD203B41FA5}">
                      <a16:colId xmlns:a16="http://schemas.microsoft.com/office/drawing/2014/main" val="1325770595"/>
                    </a:ext>
                  </a:extLst>
                </a:gridCol>
                <a:gridCol w="1149391">
                  <a:extLst>
                    <a:ext uri="{9D8B030D-6E8A-4147-A177-3AD203B41FA5}">
                      <a16:colId xmlns:a16="http://schemas.microsoft.com/office/drawing/2014/main" val="2620640357"/>
                    </a:ext>
                  </a:extLst>
                </a:gridCol>
                <a:gridCol w="1149391">
                  <a:extLst>
                    <a:ext uri="{9D8B030D-6E8A-4147-A177-3AD203B41FA5}">
                      <a16:colId xmlns:a16="http://schemas.microsoft.com/office/drawing/2014/main" val="1533940192"/>
                    </a:ext>
                  </a:extLst>
                </a:gridCol>
                <a:gridCol w="3927085">
                  <a:extLst>
                    <a:ext uri="{9D8B030D-6E8A-4147-A177-3AD203B41FA5}">
                      <a16:colId xmlns:a16="http://schemas.microsoft.com/office/drawing/2014/main" val="2966886774"/>
                    </a:ext>
                  </a:extLst>
                </a:gridCol>
              </a:tblGrid>
              <a:tr h="3886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指标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当前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目标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计算说明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451766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单</a:t>
                      </a:r>
                      <a:r>
                        <a:rPr lang="en-US" altLang="zh-CN" sz="800" u="none" strike="noStrike">
                          <a:effectLst/>
                        </a:rPr>
                        <a:t>case</a:t>
                      </a:r>
                      <a:r>
                        <a:rPr lang="zh-CN" altLang="en-US" sz="800" u="none" strike="noStrike">
                          <a:effectLst/>
                        </a:rPr>
                        <a:t>平均耗时</a:t>
                      </a:r>
                      <a:r>
                        <a:rPr lang="en-US" altLang="zh-CN" sz="800" u="none" strike="noStrike">
                          <a:effectLst/>
                        </a:rPr>
                        <a:t>(</a:t>
                      </a:r>
                      <a:r>
                        <a:rPr lang="zh-CN" altLang="en-US" sz="800" u="none" strike="noStrike">
                          <a:effectLst/>
                        </a:rPr>
                        <a:t>分钟</a:t>
                      </a:r>
                      <a:r>
                        <a:rPr lang="en-US" altLang="zh-CN" sz="800" u="none" strike="noStrike">
                          <a:effectLst/>
                        </a:rPr>
                        <a:t>)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(25-15)/25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625873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覆盖率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65%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85%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一个产品所有正向反向</a:t>
                      </a:r>
                      <a:r>
                        <a:rPr lang="en-US" altLang="zh-CN" sz="800" u="none" strike="noStrike" dirty="0">
                          <a:effectLst/>
                        </a:rPr>
                        <a:t>case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269615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人为失误率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&lt;1%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人工测试数据存在的失误率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3764229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报告整理时间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用例（分钟）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 dirty="0">
                          <a:effectLst/>
                        </a:rPr>
                        <a:t>8 </a:t>
                      </a:r>
                      <a:r>
                        <a:rPr lang="zh-CN" altLang="en-US" sz="800" u="none" strike="noStrike" dirty="0">
                          <a:effectLst/>
                        </a:rPr>
                        <a:t>分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800" u="none" strike="noStrike">
                          <a:effectLst/>
                        </a:rPr>
                        <a:t>0 </a:t>
                      </a:r>
                      <a:r>
                        <a:rPr lang="zh-CN" altLang="en-US" sz="800" u="none" strike="noStrike">
                          <a:effectLst/>
                        </a:rPr>
                        <a:t>分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去除人工截图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1507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84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6E35-A4C8-9C1F-6E98-850C9805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示例用例对比</a:t>
            </a:r>
            <a:br>
              <a:rPr lang="zh-CN" alt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46CA-3350-D99B-C9B1-CE4C2E2C6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手工</a:t>
            </a:r>
            <a:r>
              <a:rPr lang="en-US" altLang="zh-CN" dirty="0"/>
              <a:t>: 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case 5</a:t>
            </a:r>
            <a:r>
              <a:rPr lang="zh-CN" altLang="en-US" dirty="0"/>
              <a:t>参数输入 </a:t>
            </a:r>
            <a:r>
              <a:rPr lang="en-US" altLang="zh-CN" dirty="0"/>
              <a:t>+ 4 </a:t>
            </a:r>
            <a:r>
              <a:rPr lang="zh-CN" altLang="en-US" dirty="0"/>
              <a:t>下拉 </a:t>
            </a:r>
            <a:r>
              <a:rPr lang="en-US" altLang="zh-CN" dirty="0"/>
              <a:t>+ 2 </a:t>
            </a:r>
            <a:r>
              <a:rPr lang="zh-CN" altLang="en-US" dirty="0"/>
              <a:t>日期 ≈ </a:t>
            </a:r>
            <a:r>
              <a:rPr lang="en-US" altLang="zh-CN" dirty="0"/>
              <a:t>10 </a:t>
            </a:r>
            <a:r>
              <a:rPr lang="zh-CN" altLang="en-US" dirty="0"/>
              <a:t>分钟 </a:t>
            </a:r>
            <a:r>
              <a:rPr lang="en-US" altLang="zh-CN" dirty="0"/>
              <a:t>+ </a:t>
            </a:r>
            <a:r>
              <a:rPr lang="zh-CN" altLang="en-US" dirty="0"/>
              <a:t>写完一个</a:t>
            </a:r>
            <a:r>
              <a:rPr lang="en-US" altLang="zh-CN" dirty="0"/>
              <a:t>UT case</a:t>
            </a:r>
            <a:r>
              <a:rPr lang="zh-CN" altLang="en-US" dirty="0"/>
              <a:t> </a:t>
            </a:r>
            <a:r>
              <a:rPr lang="en-US" altLang="zh-CN" dirty="0"/>
              <a:t>8 </a:t>
            </a:r>
            <a:r>
              <a:rPr lang="zh-CN" altLang="en-US" dirty="0"/>
              <a:t>分钟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自动</a:t>
            </a:r>
            <a:r>
              <a:rPr lang="en-US" altLang="zh-CN" dirty="0"/>
              <a:t>: </a:t>
            </a:r>
          </a:p>
          <a:p>
            <a:pPr marL="0" indent="0">
              <a:buNone/>
            </a:pPr>
            <a:r>
              <a:rPr lang="zh-CN" altLang="en-US" dirty="0"/>
              <a:t>准备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case 5</a:t>
            </a:r>
            <a:r>
              <a:rPr lang="zh-CN" altLang="en-US" dirty="0"/>
              <a:t>分钟自动化测试可以异步执行（不耽误电脑做其他事情）</a:t>
            </a:r>
            <a:br>
              <a:rPr lang="zh-CN" altLang="en-US" dirty="0"/>
            </a:br>
            <a:r>
              <a:rPr lang="zh-CN" altLang="en-US" dirty="0"/>
              <a:t>结论：</a:t>
            </a:r>
            <a:r>
              <a:rPr lang="en-US" altLang="zh-CN" dirty="0"/>
              <a:t> </a:t>
            </a:r>
            <a:r>
              <a:rPr lang="zh-CN" altLang="en-US" dirty="0"/>
              <a:t>单用例节约时间显著，批量收益更大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B8BC6D-4A3C-FB42-D970-94884A326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77447"/>
              </p:ext>
            </p:extLst>
          </p:nvPr>
        </p:nvGraphicFramePr>
        <p:xfrm>
          <a:off x="502920" y="800100"/>
          <a:ext cx="11482602" cy="6057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27534">
                  <a:extLst>
                    <a:ext uri="{9D8B030D-6E8A-4147-A177-3AD203B41FA5}">
                      <a16:colId xmlns:a16="http://schemas.microsoft.com/office/drawing/2014/main" val="2397627798"/>
                    </a:ext>
                  </a:extLst>
                </a:gridCol>
                <a:gridCol w="3827534">
                  <a:extLst>
                    <a:ext uri="{9D8B030D-6E8A-4147-A177-3AD203B41FA5}">
                      <a16:colId xmlns:a16="http://schemas.microsoft.com/office/drawing/2014/main" val="1364176126"/>
                    </a:ext>
                  </a:extLst>
                </a:gridCol>
                <a:gridCol w="3827534">
                  <a:extLst>
                    <a:ext uri="{9D8B030D-6E8A-4147-A177-3AD203B41FA5}">
                      <a16:colId xmlns:a16="http://schemas.microsoft.com/office/drawing/2014/main" val="2613402628"/>
                    </a:ext>
                  </a:extLst>
                </a:gridCol>
              </a:tblGrid>
              <a:tr h="440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阶段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手工耗时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用例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自动耗时</a:t>
                      </a:r>
                      <a:r>
                        <a:rPr lang="en-US" altLang="zh-CN" sz="800" u="none" strike="noStrike">
                          <a:effectLst/>
                        </a:rPr>
                        <a:t>/</a:t>
                      </a:r>
                      <a:r>
                        <a:rPr lang="zh-CN" altLang="en-US" sz="800" u="none" strike="noStrike">
                          <a:effectLst/>
                        </a:rPr>
                        <a:t>用例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2684467"/>
                  </a:ext>
                </a:extLst>
              </a:tr>
              <a:tr h="6472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环境准备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5572386"/>
                  </a:ext>
                </a:extLst>
              </a:tr>
              <a:tr h="10096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 dirty="0">
                          <a:effectLst/>
                        </a:rPr>
                        <a:t>页面导航与等待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37759745"/>
                  </a:ext>
                </a:extLst>
              </a:tr>
              <a:tr h="6472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数据输入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0709643"/>
                  </a:ext>
                </a:extLst>
              </a:tr>
              <a:tr h="10096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截图与记录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4314484"/>
                  </a:ext>
                </a:extLst>
              </a:tr>
              <a:tr h="10096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断言与校验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2026734"/>
                  </a:ext>
                </a:extLst>
              </a:tr>
              <a:tr h="6472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报告整理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65103889"/>
                  </a:ext>
                </a:extLst>
              </a:tr>
              <a:tr h="6472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u="none" strike="noStrike">
                          <a:effectLst/>
                        </a:rPr>
                        <a:t>合计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43148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80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D1E7-C05B-9A4E-EAC8-B06AD463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r>
              <a:rPr lang="zh-CN" altLang="en-US" dirty="0"/>
              <a:t>演示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F00D-EF01-EA93-AAC1-2A7F6A596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截图 </a:t>
            </a:r>
            <a:r>
              <a:rPr lang="en-US" altLang="zh-CN" dirty="0"/>
              <a:t>----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40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1458</Words>
  <Application>Microsoft Office PowerPoint</Application>
  <PresentationFormat>Widescreen</PresentationFormat>
  <Paragraphs>213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Segoe UI</vt:lpstr>
      <vt:lpstr>Office Theme</vt:lpstr>
      <vt:lpstr>New Product自动化测试平台方案</vt:lpstr>
      <vt:lpstr> 现状痛点 当前测试现状</vt:lpstr>
      <vt:lpstr> 改进目标</vt:lpstr>
      <vt:lpstr>方案结构</vt:lpstr>
      <vt:lpstr>PowerPoint Presentation</vt:lpstr>
      <vt:lpstr>效益预估</vt:lpstr>
      <vt:lpstr>示例用例对比 </vt:lpstr>
      <vt:lpstr>Demo演示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Pan</dc:creator>
  <cp:lastModifiedBy>Danny Pan</cp:lastModifiedBy>
  <cp:revision>2</cp:revision>
  <dcterms:created xsi:type="dcterms:W3CDTF">2025-11-05T09:26:24Z</dcterms:created>
  <dcterms:modified xsi:type="dcterms:W3CDTF">2025-11-06T15:59:25Z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2025-11-05T09:26:30Z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ecd2176f-c067-4abd-b495-850bb17df3eb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