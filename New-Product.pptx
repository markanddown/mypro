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Roboto" panose="020B0604020202020204" charset="0"/>
      <p:regular r:id="rId10"/>
    </p:embeddedFont>
    <p:embeddedFont>
      <p:font typeface="Roboto Medium" panose="020B0604020202020204" charset="0"/>
      <p:regular r:id="rId11"/>
    </p:embeddedFont>
    <p:embeddedFont>
      <p:font typeface="Calibri" panose="020F0502020204030204" pitchFamily="34" charset="0"/>
      <p:regular r:id="rId12"/>
      <p:bold r:id="rId13"/>
      <p:italic r:id="rId14"/>
      <p:boldItalic r:id="rId1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60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636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7.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5.svg"/><Relationship Id="rId5" Type="http://schemas.openxmlformats.org/officeDocument/2006/relationships/image" Target="../media/image-3-3.svg"/><Relationship Id="rId4" Type="http://schemas.openxmlformats.org/officeDocument/2006/relationships/image" Target="../media/image7.png"/><Relationship Id="rId9" Type="http://schemas.openxmlformats.org/officeDocument/2006/relationships/image" Target="../media/image-3-9.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9.png"/><Relationship Id="rId7" Type="http://schemas.openxmlformats.org/officeDocument/2006/relationships/image" Target="../media/image-6-6.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4.svg"/><Relationship Id="rId5" Type="http://schemas.openxmlformats.org/officeDocument/2006/relationships/image" Target="../media/image7.png"/><Relationship Id="rId10" Type="http://schemas.openxmlformats.org/officeDocument/2006/relationships/image" Target="../media/image-6-10.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83190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New Product自动化测试平台方案</a:t>
            </a:r>
            <a:endParaRPr lang="en-US" sz="4450" dirty="0"/>
          </a:p>
        </p:txBody>
      </p:sp>
      <p:sp>
        <p:nvSpPr>
          <p:cNvPr id="4" name="Text 1"/>
          <p:cNvSpPr/>
          <p:nvPr/>
        </p:nvSpPr>
        <p:spPr>
          <a:xfrm>
            <a:off x="793790" y="4340185"/>
            <a:ext cx="311717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Roboto Medium" pitchFamily="34" charset="0"/>
                <a:ea typeface="Roboto Medium" pitchFamily="34" charset="-122"/>
                <a:cs typeface="Roboto Medium" pitchFamily="34" charset="-120"/>
              </a:rPr>
              <a:t>从手工繁琐到简易化测试</a:t>
            </a:r>
            <a:endParaRPr lang="en-US" sz="2200" dirty="0"/>
          </a:p>
        </p:txBody>
      </p:sp>
      <p:sp>
        <p:nvSpPr>
          <p:cNvPr id="5" name="Text 2"/>
          <p:cNvSpPr/>
          <p:nvPr/>
        </p:nvSpPr>
        <p:spPr>
          <a:xfrm>
            <a:off x="793790" y="5034677"/>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通过参数化驱动与深度集成，打造高效、可靠的企业级测试解决方案</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3373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当前测试现状与痛点</a:t>
            </a:r>
            <a:endParaRPr lang="en-US" sz="4450" dirty="0"/>
          </a:p>
        </p:txBody>
      </p:sp>
      <p:sp>
        <p:nvSpPr>
          <p:cNvPr id="4" name="Text 1"/>
          <p:cNvSpPr/>
          <p:nvPr/>
        </p:nvSpPr>
        <p:spPr>
          <a:xfrm>
            <a:off x="793790" y="2609493"/>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FFFFFF"/>
                </a:solidFill>
                <a:latin typeface="Roboto Medium" pitchFamily="34" charset="0"/>
                <a:ea typeface="Roboto Medium" pitchFamily="34" charset="-122"/>
                <a:cs typeface="Roboto Medium" pitchFamily="34" charset="-120"/>
              </a:rPr>
              <a:t>执行效率低下</a:t>
            </a:r>
            <a:endParaRPr lang="en-US" sz="2650" dirty="0"/>
          </a:p>
        </p:txBody>
      </p:sp>
      <p:sp>
        <p:nvSpPr>
          <p:cNvPr id="5" name="Text 2"/>
          <p:cNvSpPr/>
          <p:nvPr/>
        </p:nvSpPr>
        <p:spPr>
          <a:xfrm>
            <a:off x="793790" y="326159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测试边界用例繁多，执行周期冗长</a:t>
            </a:r>
            <a:endParaRPr lang="en-US" sz="1750" dirty="0"/>
          </a:p>
        </p:txBody>
      </p:sp>
      <p:sp>
        <p:nvSpPr>
          <p:cNvPr id="6" name="Text 3"/>
          <p:cNvSpPr/>
          <p:nvPr/>
        </p:nvSpPr>
        <p:spPr>
          <a:xfrm>
            <a:off x="793790" y="4066699"/>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复杂单用例耗时过高(如Phi场景)</a:t>
            </a:r>
            <a:endParaRPr lang="en-US" sz="1750" dirty="0"/>
          </a:p>
        </p:txBody>
      </p:sp>
      <p:sp>
        <p:nvSpPr>
          <p:cNvPr id="7" name="Text 4"/>
          <p:cNvSpPr/>
          <p:nvPr/>
        </p:nvSpPr>
        <p:spPr>
          <a:xfrm>
            <a:off x="793790" y="4871799"/>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批量执行能力缺失</a:t>
            </a:r>
            <a:endParaRPr lang="en-US" sz="1750" dirty="0"/>
          </a:p>
        </p:txBody>
      </p:sp>
      <p:sp>
        <p:nvSpPr>
          <p:cNvPr id="8" name="Text 5"/>
          <p:cNvSpPr/>
          <p:nvPr/>
        </p:nvSpPr>
        <p:spPr>
          <a:xfrm>
            <a:off x="4856321" y="2609493"/>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FFFFFF"/>
                </a:solidFill>
                <a:latin typeface="Roboto Medium" pitchFamily="34" charset="0"/>
                <a:ea typeface="Roboto Medium" pitchFamily="34" charset="-122"/>
                <a:cs typeface="Roboto Medium" pitchFamily="34" charset="-120"/>
              </a:rPr>
              <a:t>质量风险突出</a:t>
            </a:r>
            <a:endParaRPr lang="en-US" sz="2650" dirty="0"/>
          </a:p>
        </p:txBody>
      </p:sp>
      <p:sp>
        <p:nvSpPr>
          <p:cNvPr id="9" name="Text 6"/>
          <p:cNvSpPr/>
          <p:nvPr/>
        </p:nvSpPr>
        <p:spPr>
          <a:xfrm>
            <a:off x="4856321" y="3261598"/>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多产品覆盖率不足(Regular Pay产品未全测)</a:t>
            </a:r>
            <a:endParaRPr lang="en-US" sz="1750" dirty="0"/>
          </a:p>
        </p:txBody>
      </p:sp>
      <p:sp>
        <p:nvSpPr>
          <p:cNvPr id="10" name="Text 7"/>
          <p:cNvSpPr/>
          <p:nvPr/>
        </p:nvSpPr>
        <p:spPr>
          <a:xfrm>
            <a:off x="4856321" y="4066699"/>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手工易漏填关键参数</a:t>
            </a:r>
            <a:endParaRPr lang="en-US" sz="1750" dirty="0"/>
          </a:p>
        </p:txBody>
      </p:sp>
      <p:sp>
        <p:nvSpPr>
          <p:cNvPr id="11" name="Text 8"/>
          <p:cNvSpPr/>
          <p:nvPr/>
        </p:nvSpPr>
        <p:spPr>
          <a:xfrm>
            <a:off x="4856321" y="4508897"/>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截图证据分散难追溯</a:t>
            </a:r>
            <a:endParaRPr lang="en-US" sz="1750" dirty="0"/>
          </a:p>
        </p:txBody>
      </p:sp>
      <p:sp>
        <p:nvSpPr>
          <p:cNvPr id="12" name="Shape 9"/>
          <p:cNvSpPr/>
          <p:nvPr/>
        </p:nvSpPr>
        <p:spPr>
          <a:xfrm>
            <a:off x="793790" y="5569148"/>
            <a:ext cx="7556421" cy="1326713"/>
          </a:xfrm>
          <a:prstGeom prst="roundRect">
            <a:avLst>
              <a:gd name="adj" fmla="val 7181"/>
            </a:avLst>
          </a:prstGeom>
          <a:solidFill>
            <a:srgbClr val="0F163E"/>
          </a:solidFill>
          <a:ln/>
        </p:spPr>
      </p:sp>
      <p:pic>
        <p:nvPicPr>
          <p:cNvPr id="13" name="Image 1" descr="preencoded.png"/>
          <p:cNvPicPr>
            <a:picLocks noChangeAspect="1"/>
          </p:cNvPicPr>
          <p:nvPr/>
        </p:nvPicPr>
        <p:blipFill>
          <a:blip r:embed="rId4"/>
          <a:stretch>
            <a:fillRect/>
          </a:stretch>
        </p:blipFill>
        <p:spPr>
          <a:xfrm>
            <a:off x="1020604" y="5913239"/>
            <a:ext cx="283488" cy="226814"/>
          </a:xfrm>
          <a:prstGeom prst="rect">
            <a:avLst/>
          </a:prstGeom>
        </p:spPr>
      </p:pic>
      <p:sp>
        <p:nvSpPr>
          <p:cNvPr id="14" name="Text 10"/>
          <p:cNvSpPr/>
          <p:nvPr/>
        </p:nvSpPr>
        <p:spPr>
          <a:xfrm>
            <a:off x="1530906" y="5852636"/>
            <a:ext cx="6592491" cy="725805"/>
          </a:xfrm>
          <a:prstGeom prst="rect">
            <a:avLst/>
          </a:prstGeom>
          <a:noFill/>
          <a:ln/>
        </p:spPr>
        <p:txBody>
          <a:bodyPr wrap="square" lIns="0" tIns="0" rIns="0" bIns="0" rtlCol="0" anchor="t"/>
          <a:lstStyle/>
          <a:p>
            <a:pPr marL="0" indent="0" algn="l">
              <a:lnSpc>
                <a:spcPts val="2850"/>
              </a:lnSpc>
              <a:buNone/>
            </a:pPr>
            <a:r>
              <a:rPr lang="en-US" sz="1750" b="1" dirty="0">
                <a:solidFill>
                  <a:srgbClr val="FFFFFF"/>
                </a:solidFill>
                <a:latin typeface="Roboto" pitchFamily="34" charset="0"/>
                <a:ea typeface="Roboto" pitchFamily="34" charset="-122"/>
                <a:cs typeface="Roboto" pitchFamily="34" charset="-120"/>
              </a:rPr>
              <a:t>文档负担重</a:t>
            </a:r>
            <a:r>
              <a:rPr lang="en-US" sz="1750" dirty="0">
                <a:solidFill>
                  <a:srgbClr val="FFFFFF"/>
                </a:solidFill>
                <a:latin typeface="Roboto" pitchFamily="34" charset="0"/>
                <a:ea typeface="Roboto" pitchFamily="34" charset="-122"/>
                <a:cs typeface="Roboto" pitchFamily="34" charset="-120"/>
              </a:rPr>
              <a:t>：UT与TC文档编写及评审耗时严重，影响整体交付节奏</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4363"/>
          </a:xfrm>
          <a:prstGeom prst="rect">
            <a:avLst/>
          </a:prstGeom>
        </p:spPr>
      </p:pic>
      <p:sp>
        <p:nvSpPr>
          <p:cNvPr id="3" name="Text 0"/>
          <p:cNvSpPr/>
          <p:nvPr/>
        </p:nvSpPr>
        <p:spPr>
          <a:xfrm>
            <a:off x="760690" y="597694"/>
            <a:ext cx="3532227" cy="441484"/>
          </a:xfrm>
          <a:prstGeom prst="rect">
            <a:avLst/>
          </a:prstGeom>
          <a:noFill/>
          <a:ln/>
        </p:spPr>
        <p:txBody>
          <a:bodyPr wrap="none" lIns="0" tIns="0" rIns="0" bIns="0" rtlCol="0" anchor="t"/>
          <a:lstStyle/>
          <a:p>
            <a:pPr marL="0" indent="0" algn="l">
              <a:lnSpc>
                <a:spcPts val="3450"/>
              </a:lnSpc>
              <a:buNone/>
            </a:pPr>
            <a:r>
              <a:rPr lang="en-US" sz="2750" dirty="0">
                <a:solidFill>
                  <a:srgbClr val="FFFFFF"/>
                </a:solidFill>
                <a:latin typeface="Roboto Medium" pitchFamily="34" charset="0"/>
                <a:ea typeface="Roboto Medium" pitchFamily="34" charset="-122"/>
                <a:cs typeface="Roboto Medium" pitchFamily="34" charset="-120"/>
              </a:rPr>
              <a:t>改进目标</a:t>
            </a:r>
            <a:endParaRPr lang="en-US" sz="2750" dirty="0"/>
          </a:p>
        </p:txBody>
      </p:sp>
      <p:sp>
        <p:nvSpPr>
          <p:cNvPr id="4" name="Shape 1"/>
          <p:cNvSpPr/>
          <p:nvPr/>
        </p:nvSpPr>
        <p:spPr>
          <a:xfrm>
            <a:off x="760690" y="1251109"/>
            <a:ext cx="7622619" cy="1394222"/>
          </a:xfrm>
          <a:prstGeom prst="roundRect">
            <a:avLst>
              <a:gd name="adj" fmla="val 4256"/>
            </a:avLst>
          </a:prstGeom>
          <a:solidFill>
            <a:srgbClr val="182567"/>
          </a:solidFill>
          <a:ln w="7620">
            <a:solidFill>
              <a:srgbClr val="313E80"/>
            </a:solidFill>
            <a:prstDash val="solid"/>
          </a:ln>
        </p:spPr>
      </p:sp>
      <p:sp>
        <p:nvSpPr>
          <p:cNvPr id="5" name="Shape 2"/>
          <p:cNvSpPr/>
          <p:nvPr/>
        </p:nvSpPr>
        <p:spPr>
          <a:xfrm>
            <a:off x="909518" y="1399937"/>
            <a:ext cx="423862" cy="423863"/>
          </a:xfrm>
          <a:prstGeom prst="roundRect">
            <a:avLst>
              <a:gd name="adj" fmla="val 21570902"/>
            </a:avLst>
          </a:prstGeom>
          <a:solidFill>
            <a:srgbClr val="5A6ED8"/>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1026081" y="1516499"/>
            <a:ext cx="190738" cy="190738"/>
          </a:xfrm>
          <a:prstGeom prst="rect">
            <a:avLst/>
          </a:prstGeom>
        </p:spPr>
      </p:pic>
      <p:sp>
        <p:nvSpPr>
          <p:cNvPr id="7" name="Text 3"/>
          <p:cNvSpPr/>
          <p:nvPr/>
        </p:nvSpPr>
        <p:spPr>
          <a:xfrm>
            <a:off x="909518" y="1965007"/>
            <a:ext cx="1766054" cy="220623"/>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Roboto Medium" pitchFamily="34" charset="0"/>
                <a:ea typeface="Roboto Medium" pitchFamily="34" charset="-122"/>
                <a:cs typeface="Roboto Medium" pitchFamily="34" charset="-120"/>
              </a:rPr>
              <a:t>回归耗时降低</a:t>
            </a:r>
            <a:endParaRPr lang="en-US" sz="1350" dirty="0"/>
          </a:p>
        </p:txBody>
      </p:sp>
      <p:sp>
        <p:nvSpPr>
          <p:cNvPr id="8" name="Text 4"/>
          <p:cNvSpPr/>
          <p:nvPr/>
        </p:nvSpPr>
        <p:spPr>
          <a:xfrm>
            <a:off x="909518" y="2270403"/>
            <a:ext cx="7324963" cy="226100"/>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Roboto" pitchFamily="34" charset="0"/>
                <a:ea typeface="Roboto" pitchFamily="34" charset="-122"/>
                <a:cs typeface="Roboto" pitchFamily="34" charset="-120"/>
              </a:rPr>
              <a:t>单用例从25分钟降至5分钟，批量执行大幅提速</a:t>
            </a:r>
            <a:endParaRPr lang="en-US" sz="1100" dirty="0"/>
          </a:p>
        </p:txBody>
      </p:sp>
      <p:sp>
        <p:nvSpPr>
          <p:cNvPr id="9" name="Shape 5"/>
          <p:cNvSpPr/>
          <p:nvPr/>
        </p:nvSpPr>
        <p:spPr>
          <a:xfrm>
            <a:off x="760690" y="2786539"/>
            <a:ext cx="7622619" cy="1394222"/>
          </a:xfrm>
          <a:prstGeom prst="roundRect">
            <a:avLst>
              <a:gd name="adj" fmla="val 4256"/>
            </a:avLst>
          </a:prstGeom>
          <a:solidFill>
            <a:srgbClr val="182567"/>
          </a:solidFill>
          <a:ln w="7620">
            <a:solidFill>
              <a:srgbClr val="313E80"/>
            </a:solidFill>
            <a:prstDash val="solid"/>
          </a:ln>
        </p:spPr>
      </p:sp>
      <p:sp>
        <p:nvSpPr>
          <p:cNvPr id="10" name="Shape 6"/>
          <p:cNvSpPr/>
          <p:nvPr/>
        </p:nvSpPr>
        <p:spPr>
          <a:xfrm>
            <a:off x="909518" y="2935367"/>
            <a:ext cx="423862" cy="423863"/>
          </a:xfrm>
          <a:prstGeom prst="roundRect">
            <a:avLst>
              <a:gd name="adj" fmla="val 21570902"/>
            </a:avLst>
          </a:prstGeom>
          <a:solidFill>
            <a:srgbClr val="5A6ED8"/>
          </a:solidFill>
          <a:ln/>
        </p:spPr>
      </p:sp>
      <p:pic>
        <p:nvPicPr>
          <p:cNvPr id="11" name="Image 2" descr="preencoded.png"/>
          <p:cNvPicPr>
            <a:picLocks noChangeAspect="1"/>
          </p:cNvPicPr>
          <p:nvPr/>
        </p:nvPicPr>
        <p:blipFill>
          <a:blip r:embed="rId4">
            <a:extLst>
              <a:ext uri="{96DAC541-7B7A-43D3-8B79-37D633B846F1}">
                <asvg:svgBlip xmlns:asvg="http://schemas.microsoft.com/office/drawing/2016/SVG/main" xmlns="" r:embed="rId6"/>
              </a:ext>
            </a:extLst>
          </a:blip>
          <a:stretch>
            <a:fillRect/>
          </a:stretch>
        </p:blipFill>
        <p:spPr>
          <a:xfrm>
            <a:off x="1026081" y="3051929"/>
            <a:ext cx="190738" cy="190738"/>
          </a:xfrm>
          <a:prstGeom prst="rect">
            <a:avLst/>
          </a:prstGeom>
        </p:spPr>
      </p:pic>
      <p:sp>
        <p:nvSpPr>
          <p:cNvPr id="12" name="Text 7"/>
          <p:cNvSpPr/>
          <p:nvPr/>
        </p:nvSpPr>
        <p:spPr>
          <a:xfrm>
            <a:off x="909518" y="3500438"/>
            <a:ext cx="1766054" cy="220623"/>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Roboto Medium" pitchFamily="34" charset="0"/>
                <a:ea typeface="Roboto Medium" pitchFamily="34" charset="-122"/>
                <a:cs typeface="Roboto Medium" pitchFamily="34" charset="-120"/>
              </a:rPr>
              <a:t>覆盖率提升</a:t>
            </a:r>
            <a:endParaRPr lang="en-US" sz="1350" dirty="0"/>
          </a:p>
        </p:txBody>
      </p:sp>
      <p:sp>
        <p:nvSpPr>
          <p:cNvPr id="13" name="Text 8"/>
          <p:cNvSpPr/>
          <p:nvPr/>
        </p:nvSpPr>
        <p:spPr>
          <a:xfrm>
            <a:off x="909518" y="3805833"/>
            <a:ext cx="7324963" cy="226100"/>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Roboto" pitchFamily="34" charset="0"/>
                <a:ea typeface="Roboto" pitchFamily="34" charset="-122"/>
                <a:cs typeface="Roboto" pitchFamily="34" charset="-120"/>
              </a:rPr>
              <a:t>从65%提升至85%，全面覆盖多产品场景</a:t>
            </a:r>
            <a:endParaRPr lang="en-US" sz="1100" dirty="0"/>
          </a:p>
        </p:txBody>
      </p:sp>
      <p:sp>
        <p:nvSpPr>
          <p:cNvPr id="14" name="Shape 9"/>
          <p:cNvSpPr/>
          <p:nvPr/>
        </p:nvSpPr>
        <p:spPr>
          <a:xfrm>
            <a:off x="760690" y="4321969"/>
            <a:ext cx="7622619" cy="1394222"/>
          </a:xfrm>
          <a:prstGeom prst="roundRect">
            <a:avLst>
              <a:gd name="adj" fmla="val 4256"/>
            </a:avLst>
          </a:prstGeom>
          <a:solidFill>
            <a:srgbClr val="182567"/>
          </a:solidFill>
          <a:ln w="7620">
            <a:solidFill>
              <a:srgbClr val="313E80"/>
            </a:solidFill>
            <a:prstDash val="solid"/>
          </a:ln>
        </p:spPr>
      </p:sp>
      <p:sp>
        <p:nvSpPr>
          <p:cNvPr id="15" name="Shape 10"/>
          <p:cNvSpPr/>
          <p:nvPr/>
        </p:nvSpPr>
        <p:spPr>
          <a:xfrm>
            <a:off x="909518" y="4470797"/>
            <a:ext cx="423862" cy="423863"/>
          </a:xfrm>
          <a:prstGeom prst="roundRect">
            <a:avLst>
              <a:gd name="adj" fmla="val 21570902"/>
            </a:avLst>
          </a:prstGeom>
          <a:solidFill>
            <a:srgbClr val="5A6ED8"/>
          </a:solidFill>
          <a:ln/>
        </p:spPr>
      </p:sp>
      <p:pic>
        <p:nvPicPr>
          <p:cNvPr id="16"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1026081" y="4587359"/>
            <a:ext cx="190738" cy="190738"/>
          </a:xfrm>
          <a:prstGeom prst="rect">
            <a:avLst/>
          </a:prstGeom>
        </p:spPr>
      </p:pic>
      <p:sp>
        <p:nvSpPr>
          <p:cNvPr id="17" name="Text 11"/>
          <p:cNvSpPr/>
          <p:nvPr/>
        </p:nvSpPr>
        <p:spPr>
          <a:xfrm>
            <a:off x="909518" y="5035867"/>
            <a:ext cx="1766054" cy="220623"/>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Roboto Medium" pitchFamily="34" charset="0"/>
                <a:ea typeface="Roboto Medium" pitchFamily="34" charset="-122"/>
                <a:cs typeface="Roboto Medium" pitchFamily="34" charset="-120"/>
              </a:rPr>
              <a:t>报告自动化</a:t>
            </a:r>
            <a:endParaRPr lang="en-US" sz="1350" dirty="0"/>
          </a:p>
        </p:txBody>
      </p:sp>
      <p:sp>
        <p:nvSpPr>
          <p:cNvPr id="18" name="Text 12"/>
          <p:cNvSpPr/>
          <p:nvPr/>
        </p:nvSpPr>
        <p:spPr>
          <a:xfrm>
            <a:off x="909518" y="5341263"/>
            <a:ext cx="7324963" cy="226100"/>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Roboto" pitchFamily="34" charset="0"/>
                <a:ea typeface="Roboto" pitchFamily="34" charset="-122"/>
                <a:cs typeface="Roboto" pitchFamily="34" charset="-120"/>
              </a:rPr>
              <a:t>统一格式、自动生成，零人工整理时间</a:t>
            </a:r>
            <a:endParaRPr lang="en-US" sz="1100" dirty="0"/>
          </a:p>
        </p:txBody>
      </p:sp>
      <p:sp>
        <p:nvSpPr>
          <p:cNvPr id="19" name="Shape 13"/>
          <p:cNvSpPr/>
          <p:nvPr/>
        </p:nvSpPr>
        <p:spPr>
          <a:xfrm>
            <a:off x="760690" y="5857399"/>
            <a:ext cx="7622619" cy="1394222"/>
          </a:xfrm>
          <a:prstGeom prst="roundRect">
            <a:avLst>
              <a:gd name="adj" fmla="val 4256"/>
            </a:avLst>
          </a:prstGeom>
          <a:solidFill>
            <a:srgbClr val="182567"/>
          </a:solidFill>
          <a:ln w="7620">
            <a:solidFill>
              <a:srgbClr val="313E80"/>
            </a:solidFill>
            <a:prstDash val="solid"/>
          </a:ln>
        </p:spPr>
      </p:sp>
      <p:sp>
        <p:nvSpPr>
          <p:cNvPr id="20" name="Shape 14"/>
          <p:cNvSpPr/>
          <p:nvPr/>
        </p:nvSpPr>
        <p:spPr>
          <a:xfrm>
            <a:off x="909518" y="6006227"/>
            <a:ext cx="423862" cy="423863"/>
          </a:xfrm>
          <a:prstGeom prst="roundRect">
            <a:avLst>
              <a:gd name="adj" fmla="val 21570902"/>
            </a:avLst>
          </a:prstGeom>
          <a:solidFill>
            <a:srgbClr val="5A6ED8"/>
          </a:solidFill>
          <a:ln/>
        </p:spPr>
      </p:sp>
      <p:pic>
        <p:nvPicPr>
          <p:cNvPr id="21"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1026081" y="6122789"/>
            <a:ext cx="190738" cy="190738"/>
          </a:xfrm>
          <a:prstGeom prst="rect">
            <a:avLst/>
          </a:prstGeom>
        </p:spPr>
      </p:pic>
      <p:sp>
        <p:nvSpPr>
          <p:cNvPr id="22" name="Text 15"/>
          <p:cNvSpPr/>
          <p:nvPr/>
        </p:nvSpPr>
        <p:spPr>
          <a:xfrm>
            <a:off x="909518" y="6571298"/>
            <a:ext cx="1766054" cy="220623"/>
          </a:xfrm>
          <a:prstGeom prst="rect">
            <a:avLst/>
          </a:prstGeom>
          <a:noFill/>
          <a:ln/>
        </p:spPr>
        <p:txBody>
          <a:bodyPr wrap="none" lIns="0" tIns="0" rIns="0" bIns="0" rtlCol="0" anchor="t"/>
          <a:lstStyle/>
          <a:p>
            <a:pPr marL="0" indent="0" algn="l">
              <a:lnSpc>
                <a:spcPts val="1700"/>
              </a:lnSpc>
              <a:buNone/>
            </a:pPr>
            <a:r>
              <a:rPr lang="en-US" sz="1350" dirty="0">
                <a:solidFill>
                  <a:srgbClr val="CFD0D8"/>
                </a:solidFill>
                <a:latin typeface="Roboto Medium" pitchFamily="34" charset="0"/>
                <a:ea typeface="Roboto Medium" pitchFamily="34" charset="-122"/>
                <a:cs typeface="Roboto Medium" pitchFamily="34" charset="-120"/>
              </a:rPr>
              <a:t>批量执行</a:t>
            </a:r>
            <a:endParaRPr lang="en-US" sz="1350" dirty="0"/>
          </a:p>
        </p:txBody>
      </p:sp>
      <p:sp>
        <p:nvSpPr>
          <p:cNvPr id="23" name="Text 16"/>
          <p:cNvSpPr/>
          <p:nvPr/>
        </p:nvSpPr>
        <p:spPr>
          <a:xfrm>
            <a:off x="909518" y="6876693"/>
            <a:ext cx="7324963" cy="226100"/>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latin typeface="Roboto" pitchFamily="34" charset="0"/>
                <a:ea typeface="Roboto" pitchFamily="34" charset="-122"/>
                <a:cs typeface="Roboto" pitchFamily="34" charset="-120"/>
              </a:rPr>
              <a:t>一键触发多case并行运行，支持调度策略</a:t>
            </a:r>
            <a:endParaRPr lang="en-US" sz="1100" dirty="0"/>
          </a:p>
        </p:txBody>
      </p:sp>
      <p:sp>
        <p:nvSpPr>
          <p:cNvPr id="24" name="Text 17"/>
          <p:cNvSpPr/>
          <p:nvPr/>
        </p:nvSpPr>
        <p:spPr>
          <a:xfrm>
            <a:off x="760690" y="7410569"/>
            <a:ext cx="7622619" cy="226100"/>
          </a:xfrm>
          <a:prstGeom prst="rect">
            <a:avLst/>
          </a:prstGeom>
          <a:noFill/>
          <a:ln/>
        </p:spPr>
        <p:txBody>
          <a:bodyPr wrap="none" lIns="0" tIns="0" rIns="0" bIns="0" rtlCol="0" anchor="t"/>
          <a:lstStyle/>
          <a:p>
            <a:pPr marL="0" indent="0" algn="l">
              <a:lnSpc>
                <a:spcPts val="1750"/>
              </a:lnSpc>
              <a:buNone/>
            </a:pPr>
            <a:r>
              <a:rPr lang="en-US" sz="1100" dirty="0">
                <a:solidFill>
                  <a:srgbClr val="CFD0D8"/>
                </a:solidFill>
                <a:highlight>
                  <a:srgbClr val="5A6ED8"/>
                </a:highlight>
                <a:latin typeface="Roboto" pitchFamily="34" charset="0"/>
                <a:ea typeface="Roboto" pitchFamily="34" charset="-122"/>
                <a:cs typeface="Roboto" pitchFamily="34" charset="-120"/>
              </a:rPr>
              <a:t>核心价值</a:t>
            </a:r>
            <a:r>
              <a:rPr lang="en-US" sz="1100" dirty="0">
                <a:solidFill>
                  <a:srgbClr val="CFD0D8"/>
                </a:solidFill>
                <a:latin typeface="Roboto" pitchFamily="34" charset="0"/>
                <a:ea typeface="Roboto" pitchFamily="34" charset="-122"/>
                <a:cs typeface="Roboto" pitchFamily="34" charset="-120"/>
              </a:rPr>
              <a:t>：通过参数化驱动自动化，实现效率与质量的双重提升</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138970"/>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方案架构总览</a:t>
            </a:r>
            <a:endParaRPr lang="en-US" sz="4450" dirty="0"/>
          </a:p>
        </p:txBody>
      </p:sp>
      <p:sp>
        <p:nvSpPr>
          <p:cNvPr id="4" name="Text 1"/>
          <p:cNvSpPr/>
          <p:nvPr/>
        </p:nvSpPr>
        <p:spPr>
          <a:xfrm>
            <a:off x="793790" y="541472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Roboto Medium" pitchFamily="34" charset="0"/>
                <a:ea typeface="Roboto Medium" pitchFamily="34" charset="-122"/>
                <a:cs typeface="Roboto Medium" pitchFamily="34" charset="-120"/>
              </a:rPr>
              <a:t>参数化引擎</a:t>
            </a:r>
            <a:endParaRPr lang="en-US" sz="2200" dirty="0"/>
          </a:p>
        </p:txBody>
      </p:sp>
      <p:sp>
        <p:nvSpPr>
          <p:cNvPr id="5" name="Text 2"/>
          <p:cNvSpPr/>
          <p:nvPr/>
        </p:nvSpPr>
        <p:spPr>
          <a:xfrm>
            <a:off x="793790" y="5995868"/>
            <a:ext cx="3933349" cy="362903"/>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JSON Schema校验，结构化数据驱动</a:t>
            </a:r>
            <a:endParaRPr lang="en-US" sz="1750" dirty="0"/>
          </a:p>
        </p:txBody>
      </p:sp>
      <p:sp>
        <p:nvSpPr>
          <p:cNvPr id="6" name="Text 3"/>
          <p:cNvSpPr/>
          <p:nvPr/>
        </p:nvSpPr>
        <p:spPr>
          <a:xfrm>
            <a:off x="5288161" y="541472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Roboto Medium" pitchFamily="34" charset="0"/>
                <a:ea typeface="Roboto Medium" pitchFamily="34" charset="-122"/>
                <a:cs typeface="Roboto Medium" pitchFamily="34" charset="-120"/>
              </a:rPr>
              <a:t>执行调度层</a:t>
            </a:r>
            <a:endParaRPr lang="en-US" sz="2200" dirty="0"/>
          </a:p>
        </p:txBody>
      </p:sp>
      <p:sp>
        <p:nvSpPr>
          <p:cNvPr id="7" name="Text 4"/>
          <p:cNvSpPr/>
          <p:nvPr/>
        </p:nvSpPr>
        <p:spPr>
          <a:xfrm>
            <a:off x="5288161" y="5995868"/>
            <a:ext cx="3933349" cy="362903"/>
          </a:xfrm>
          <a:prstGeom prst="rect">
            <a:avLst/>
          </a:prstGeom>
          <a:noFill/>
          <a:ln/>
        </p:spPr>
        <p:txBody>
          <a:bodyPr wrap="non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批量任务、智能重试、并行执行</a:t>
            </a:r>
            <a:endParaRPr lang="en-US" sz="1750" dirty="0"/>
          </a:p>
        </p:txBody>
      </p:sp>
      <p:sp>
        <p:nvSpPr>
          <p:cNvPr id="8" name="Text 5"/>
          <p:cNvSpPr/>
          <p:nvPr/>
        </p:nvSpPr>
        <p:spPr>
          <a:xfrm>
            <a:off x="9782532" y="541472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Roboto Medium" pitchFamily="34" charset="0"/>
                <a:ea typeface="Roboto Medium" pitchFamily="34" charset="-122"/>
                <a:cs typeface="Roboto Medium" pitchFamily="34" charset="-120"/>
              </a:rPr>
              <a:t>报告生成器</a:t>
            </a:r>
            <a:endParaRPr lang="en-US" sz="2200" dirty="0"/>
          </a:p>
        </p:txBody>
      </p:sp>
      <p:sp>
        <p:nvSpPr>
          <p:cNvPr id="9" name="Text 6"/>
          <p:cNvSpPr/>
          <p:nvPr/>
        </p:nvSpPr>
        <p:spPr>
          <a:xfrm>
            <a:off x="9782532" y="5995868"/>
            <a:ext cx="4069199" cy="725805"/>
          </a:xfrm>
          <a:prstGeom prst="rect">
            <a:avLst/>
          </a:prstGeom>
          <a:noFill/>
          <a:ln/>
        </p:spPr>
        <p:txBody>
          <a:bodyPr wrap="square" lIns="0" tIns="0" rIns="0" bIns="0" rtlCol="0" anchor="t"/>
          <a:lstStyle/>
          <a:p>
            <a:pPr marL="0" indent="0" algn="l">
              <a:lnSpc>
                <a:spcPts val="2850"/>
              </a:lnSpc>
              <a:buNone/>
            </a:pPr>
            <a:r>
              <a:rPr lang="en-US" sz="1750" dirty="0">
                <a:solidFill>
                  <a:srgbClr val="CFD0D8"/>
                </a:solidFill>
                <a:latin typeface="Roboto" pitchFamily="34" charset="0"/>
                <a:ea typeface="Roboto" pitchFamily="34" charset="-122"/>
                <a:cs typeface="Roboto" pitchFamily="34" charset="-120"/>
              </a:rPr>
              <a:t>Word/PDF/HTML自动输出，证据统一归档</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3307"/>
            <a:ext cx="4820007" cy="602456"/>
          </a:xfrm>
          <a:prstGeom prst="rect">
            <a:avLst/>
          </a:prstGeom>
          <a:noFill/>
          <a:ln/>
        </p:spPr>
        <p:txBody>
          <a:bodyPr wrap="none" lIns="0" tIns="0" rIns="0" bIns="0" rtlCol="0" anchor="t"/>
          <a:lstStyle/>
          <a:p>
            <a:pPr marL="0" indent="0" algn="l">
              <a:lnSpc>
                <a:spcPts val="4700"/>
              </a:lnSpc>
              <a:buNone/>
            </a:pPr>
            <a:r>
              <a:rPr lang="en-US" sz="3750" dirty="0">
                <a:solidFill>
                  <a:srgbClr val="FFFFFF"/>
                </a:solidFill>
                <a:latin typeface="Roboto Medium" pitchFamily="34" charset="0"/>
                <a:ea typeface="Roboto Medium" pitchFamily="34" charset="-122"/>
                <a:cs typeface="Roboto Medium" pitchFamily="34" charset="-120"/>
              </a:rPr>
              <a:t>方案对比分析</a:t>
            </a:r>
            <a:endParaRPr lang="en-US" sz="3750" dirty="0"/>
          </a:p>
        </p:txBody>
      </p:sp>
      <p:sp>
        <p:nvSpPr>
          <p:cNvPr id="3" name="Text 1"/>
          <p:cNvSpPr/>
          <p:nvPr/>
        </p:nvSpPr>
        <p:spPr>
          <a:xfrm>
            <a:off x="793790" y="1422797"/>
            <a:ext cx="3469005" cy="361474"/>
          </a:xfrm>
          <a:prstGeom prst="rect">
            <a:avLst/>
          </a:prstGeom>
          <a:noFill/>
          <a:ln/>
        </p:spPr>
        <p:txBody>
          <a:bodyPr wrap="none" lIns="0" tIns="0" rIns="0" bIns="0" rtlCol="0" anchor="t"/>
          <a:lstStyle/>
          <a:p>
            <a:pPr marL="0" indent="0" algn="l">
              <a:lnSpc>
                <a:spcPts val="2800"/>
              </a:lnSpc>
              <a:buNone/>
            </a:pPr>
            <a:r>
              <a:rPr lang="en-US" sz="2250" dirty="0">
                <a:solidFill>
                  <a:srgbClr val="FFFFFF"/>
                </a:solidFill>
                <a:latin typeface="Roboto Medium" pitchFamily="34" charset="0"/>
                <a:ea typeface="Roboto Medium" pitchFamily="34" charset="-122"/>
                <a:cs typeface="Roboto Medium" pitchFamily="34" charset="-120"/>
              </a:rPr>
              <a:t>三种实施路径的全维度评估</a:t>
            </a:r>
            <a:endParaRPr lang="en-US" sz="2250" dirty="0"/>
          </a:p>
        </p:txBody>
      </p:sp>
      <p:sp>
        <p:nvSpPr>
          <p:cNvPr id="4" name="Shape 2"/>
          <p:cNvSpPr/>
          <p:nvPr/>
        </p:nvSpPr>
        <p:spPr>
          <a:xfrm>
            <a:off x="793790" y="2073473"/>
            <a:ext cx="13042821" cy="4453890"/>
          </a:xfrm>
          <a:prstGeom prst="roundRect">
            <a:avLst>
              <a:gd name="adj" fmla="val 1818"/>
            </a:avLst>
          </a:prstGeom>
          <a:noFill/>
          <a:ln w="7620">
            <a:solidFill>
              <a:srgbClr val="FFFFFF">
                <a:alpha val="24000"/>
              </a:srgbClr>
            </a:solidFill>
            <a:prstDash val="solid"/>
          </a:ln>
        </p:spPr>
      </p:sp>
      <p:sp>
        <p:nvSpPr>
          <p:cNvPr id="5" name="Shape 3"/>
          <p:cNvSpPr/>
          <p:nvPr/>
        </p:nvSpPr>
        <p:spPr>
          <a:xfrm>
            <a:off x="801410" y="2081093"/>
            <a:ext cx="13027581" cy="554831"/>
          </a:xfrm>
          <a:prstGeom prst="rect">
            <a:avLst/>
          </a:prstGeom>
          <a:solidFill>
            <a:srgbClr val="FFFFFF">
              <a:alpha val="4000"/>
            </a:srgbClr>
          </a:solidFill>
          <a:ln/>
        </p:spPr>
      </p:sp>
      <p:sp>
        <p:nvSpPr>
          <p:cNvPr id="6" name="Text 4"/>
          <p:cNvSpPr/>
          <p:nvPr/>
        </p:nvSpPr>
        <p:spPr>
          <a:xfrm>
            <a:off x="994529" y="2204323"/>
            <a:ext cx="2216110" cy="308372"/>
          </a:xfrm>
          <a:prstGeom prst="rect">
            <a:avLst/>
          </a:prstGeom>
          <a:noFill/>
          <a:ln/>
        </p:spPr>
        <p:txBody>
          <a:bodyPr wrap="none" lIns="0" tIns="0" rIns="0" bIns="0" rtlCol="0" anchor="t"/>
          <a:lstStyle/>
          <a:p>
            <a:pPr marL="0" indent="0" algn="l">
              <a:lnSpc>
                <a:spcPts val="2400"/>
              </a:lnSpc>
              <a:buNone/>
            </a:pPr>
            <a:r>
              <a:rPr lang="en-US" sz="1500" b="1" dirty="0">
                <a:solidFill>
                  <a:srgbClr val="CFD0D8"/>
                </a:solidFill>
                <a:latin typeface="Roboto" pitchFamily="34" charset="0"/>
                <a:ea typeface="Roboto" pitchFamily="34" charset="-122"/>
                <a:cs typeface="Roboto" pitchFamily="34" charset="-120"/>
              </a:rPr>
              <a:t>维度</a:t>
            </a:r>
            <a:endParaRPr lang="en-US" sz="1500" dirty="0"/>
          </a:p>
        </p:txBody>
      </p:sp>
      <p:sp>
        <p:nvSpPr>
          <p:cNvPr id="7" name="Text 5"/>
          <p:cNvSpPr/>
          <p:nvPr/>
        </p:nvSpPr>
        <p:spPr>
          <a:xfrm>
            <a:off x="3603784" y="2204323"/>
            <a:ext cx="2993946" cy="308372"/>
          </a:xfrm>
          <a:prstGeom prst="rect">
            <a:avLst/>
          </a:prstGeom>
          <a:noFill/>
          <a:ln/>
        </p:spPr>
        <p:txBody>
          <a:bodyPr wrap="none" lIns="0" tIns="0" rIns="0" bIns="0" rtlCol="0" anchor="t"/>
          <a:lstStyle/>
          <a:p>
            <a:pPr marL="0" indent="0" algn="l">
              <a:lnSpc>
                <a:spcPts val="2400"/>
              </a:lnSpc>
              <a:buNone/>
            </a:pPr>
            <a:r>
              <a:rPr lang="en-US" sz="1500" b="1" dirty="0">
                <a:solidFill>
                  <a:srgbClr val="CFD0D8"/>
                </a:solidFill>
                <a:latin typeface="Roboto" pitchFamily="34" charset="0"/>
                <a:ea typeface="Roboto" pitchFamily="34" charset="-122"/>
                <a:cs typeface="Roboto" pitchFamily="34" charset="-120"/>
              </a:rPr>
              <a:t>传统手工</a:t>
            </a:r>
            <a:endParaRPr lang="en-US" sz="1500" dirty="0"/>
          </a:p>
        </p:txBody>
      </p:sp>
      <p:sp>
        <p:nvSpPr>
          <p:cNvPr id="8" name="Text 6"/>
          <p:cNvSpPr/>
          <p:nvPr/>
        </p:nvSpPr>
        <p:spPr>
          <a:xfrm>
            <a:off x="6990874" y="2204323"/>
            <a:ext cx="3124200" cy="308372"/>
          </a:xfrm>
          <a:prstGeom prst="rect">
            <a:avLst/>
          </a:prstGeom>
          <a:noFill/>
          <a:ln/>
        </p:spPr>
        <p:txBody>
          <a:bodyPr wrap="none" lIns="0" tIns="0" rIns="0" bIns="0" rtlCol="0" anchor="t"/>
          <a:lstStyle/>
          <a:p>
            <a:pPr marL="0" indent="0" algn="l">
              <a:lnSpc>
                <a:spcPts val="2400"/>
              </a:lnSpc>
              <a:buNone/>
            </a:pPr>
            <a:r>
              <a:rPr lang="en-US" sz="1500" b="1" dirty="0">
                <a:solidFill>
                  <a:srgbClr val="CFD0D8"/>
                </a:solidFill>
                <a:latin typeface="Roboto" pitchFamily="34" charset="0"/>
                <a:ea typeface="Roboto" pitchFamily="34" charset="-122"/>
                <a:cs typeface="Roboto" pitchFamily="34" charset="-120"/>
              </a:rPr>
              <a:t>Katalon</a:t>
            </a:r>
            <a:endParaRPr lang="en-US" sz="1500" dirty="0"/>
          </a:p>
        </p:txBody>
      </p:sp>
      <p:sp>
        <p:nvSpPr>
          <p:cNvPr id="9" name="Text 7"/>
          <p:cNvSpPr/>
          <p:nvPr/>
        </p:nvSpPr>
        <p:spPr>
          <a:xfrm>
            <a:off x="10508218" y="2204323"/>
            <a:ext cx="3128010" cy="308372"/>
          </a:xfrm>
          <a:prstGeom prst="rect">
            <a:avLst/>
          </a:prstGeom>
          <a:noFill/>
          <a:ln/>
        </p:spPr>
        <p:txBody>
          <a:bodyPr wrap="none" lIns="0" tIns="0" rIns="0" bIns="0" rtlCol="0" anchor="t"/>
          <a:lstStyle/>
          <a:p>
            <a:pPr marL="0" indent="0" algn="l">
              <a:lnSpc>
                <a:spcPts val="2400"/>
              </a:lnSpc>
              <a:buNone/>
            </a:pPr>
            <a:r>
              <a:rPr lang="en-US" sz="1500" b="1" dirty="0">
                <a:solidFill>
                  <a:srgbClr val="CFD0D8"/>
                </a:solidFill>
                <a:latin typeface="Roboto" pitchFamily="34" charset="0"/>
                <a:ea typeface="Roboto" pitchFamily="34" charset="-122"/>
                <a:cs typeface="Roboto" pitchFamily="34" charset="-120"/>
              </a:rPr>
              <a:t>自建Python方案</a:t>
            </a:r>
            <a:endParaRPr lang="en-US" sz="1500" dirty="0"/>
          </a:p>
        </p:txBody>
      </p:sp>
      <p:sp>
        <p:nvSpPr>
          <p:cNvPr id="10" name="Shape 8"/>
          <p:cNvSpPr/>
          <p:nvPr/>
        </p:nvSpPr>
        <p:spPr>
          <a:xfrm>
            <a:off x="801410" y="2635925"/>
            <a:ext cx="13027581" cy="554831"/>
          </a:xfrm>
          <a:prstGeom prst="rect">
            <a:avLst/>
          </a:prstGeom>
          <a:solidFill>
            <a:srgbClr val="000000">
              <a:alpha val="4000"/>
            </a:srgbClr>
          </a:solidFill>
          <a:ln/>
        </p:spPr>
      </p:sp>
      <p:sp>
        <p:nvSpPr>
          <p:cNvPr id="11" name="Text 9"/>
          <p:cNvSpPr/>
          <p:nvPr/>
        </p:nvSpPr>
        <p:spPr>
          <a:xfrm>
            <a:off x="994529" y="2759154"/>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批量执行</a:t>
            </a:r>
            <a:endParaRPr lang="en-US" sz="1500" dirty="0"/>
          </a:p>
        </p:txBody>
      </p:sp>
      <p:sp>
        <p:nvSpPr>
          <p:cNvPr id="12" name="Text 10"/>
          <p:cNvSpPr/>
          <p:nvPr/>
        </p:nvSpPr>
        <p:spPr>
          <a:xfrm>
            <a:off x="3603784" y="2759154"/>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逐条执行</a:t>
            </a:r>
            <a:endParaRPr lang="en-US" sz="1500" dirty="0"/>
          </a:p>
        </p:txBody>
      </p:sp>
      <p:sp>
        <p:nvSpPr>
          <p:cNvPr id="13" name="Text 11"/>
          <p:cNvSpPr/>
          <p:nvPr/>
        </p:nvSpPr>
        <p:spPr>
          <a:xfrm>
            <a:off x="6990874" y="2759154"/>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测试套件</a:t>
            </a:r>
            <a:endParaRPr lang="en-US" sz="1500" dirty="0"/>
          </a:p>
        </p:txBody>
      </p:sp>
      <p:sp>
        <p:nvSpPr>
          <p:cNvPr id="14" name="Text 12"/>
          <p:cNvSpPr/>
          <p:nvPr/>
        </p:nvSpPr>
        <p:spPr>
          <a:xfrm>
            <a:off x="10508218" y="2759154"/>
            <a:ext cx="3128010" cy="308372"/>
          </a:xfrm>
          <a:prstGeom prst="rect">
            <a:avLst/>
          </a:prstGeom>
          <a:noFill/>
          <a:ln/>
        </p:spPr>
        <p:txBody>
          <a:bodyPr wrap="none" lIns="0" tIns="0" rIns="0" bIns="0" rtlCol="0" anchor="t"/>
          <a:lstStyle/>
          <a:p>
            <a:pPr marL="0" indent="0" algn="l">
              <a:lnSpc>
                <a:spcPts val="2400"/>
              </a:lnSpc>
              <a:buNone/>
            </a:pPr>
            <a:r>
              <a:rPr lang="en-US" sz="1500" dirty="0">
                <a:solidFill>
                  <a:srgbClr val="5A6ED8"/>
                </a:solidFill>
                <a:latin typeface="Roboto" pitchFamily="34" charset="0"/>
                <a:ea typeface="Roboto" pitchFamily="34" charset="-122"/>
                <a:cs typeface="Roboto" pitchFamily="34" charset="-120"/>
              </a:rPr>
              <a:t>一键多Case + 调度</a:t>
            </a:r>
            <a:endParaRPr lang="en-US" sz="1500" dirty="0"/>
          </a:p>
        </p:txBody>
      </p:sp>
      <p:sp>
        <p:nvSpPr>
          <p:cNvPr id="15" name="Shape 13"/>
          <p:cNvSpPr/>
          <p:nvPr/>
        </p:nvSpPr>
        <p:spPr>
          <a:xfrm>
            <a:off x="801410" y="3190756"/>
            <a:ext cx="13027581" cy="554831"/>
          </a:xfrm>
          <a:prstGeom prst="rect">
            <a:avLst/>
          </a:prstGeom>
          <a:solidFill>
            <a:srgbClr val="FFFFFF">
              <a:alpha val="4000"/>
            </a:srgbClr>
          </a:solidFill>
          <a:ln/>
        </p:spPr>
      </p:sp>
      <p:sp>
        <p:nvSpPr>
          <p:cNvPr id="16" name="Text 14"/>
          <p:cNvSpPr/>
          <p:nvPr/>
        </p:nvSpPr>
        <p:spPr>
          <a:xfrm>
            <a:off x="994529" y="3313986"/>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单用例耗时</a:t>
            </a:r>
            <a:endParaRPr lang="en-US" sz="1500" dirty="0"/>
          </a:p>
        </p:txBody>
      </p:sp>
      <p:sp>
        <p:nvSpPr>
          <p:cNvPr id="17" name="Text 15"/>
          <p:cNvSpPr/>
          <p:nvPr/>
        </p:nvSpPr>
        <p:spPr>
          <a:xfrm>
            <a:off x="3603784" y="3313986"/>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25分钟</a:t>
            </a:r>
            <a:endParaRPr lang="en-US" sz="1500" dirty="0"/>
          </a:p>
        </p:txBody>
      </p:sp>
      <p:sp>
        <p:nvSpPr>
          <p:cNvPr id="18" name="Text 16"/>
          <p:cNvSpPr/>
          <p:nvPr/>
        </p:nvSpPr>
        <p:spPr>
          <a:xfrm>
            <a:off x="6990874" y="3313986"/>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18分钟</a:t>
            </a:r>
            <a:endParaRPr lang="en-US" sz="1500" dirty="0"/>
          </a:p>
        </p:txBody>
      </p:sp>
      <p:sp>
        <p:nvSpPr>
          <p:cNvPr id="19" name="Text 17"/>
          <p:cNvSpPr/>
          <p:nvPr/>
        </p:nvSpPr>
        <p:spPr>
          <a:xfrm>
            <a:off x="10508218" y="3313986"/>
            <a:ext cx="3128010" cy="308372"/>
          </a:xfrm>
          <a:prstGeom prst="rect">
            <a:avLst/>
          </a:prstGeom>
          <a:noFill/>
          <a:ln/>
        </p:spPr>
        <p:txBody>
          <a:bodyPr wrap="none" lIns="0" tIns="0" rIns="0" bIns="0" rtlCol="0" anchor="t"/>
          <a:lstStyle/>
          <a:p>
            <a:pPr marL="0" indent="0" algn="l">
              <a:lnSpc>
                <a:spcPts val="2400"/>
              </a:lnSpc>
              <a:buNone/>
            </a:pPr>
            <a:r>
              <a:rPr lang="en-US" sz="1500" dirty="0">
                <a:solidFill>
                  <a:srgbClr val="5A6ED8"/>
                </a:solidFill>
                <a:latin typeface="Roboto" pitchFamily="34" charset="0"/>
                <a:ea typeface="Roboto" pitchFamily="34" charset="-122"/>
                <a:cs typeface="Roboto" pitchFamily="34" charset="-120"/>
              </a:rPr>
              <a:t>5分钟</a:t>
            </a:r>
            <a:endParaRPr lang="en-US" sz="1500" dirty="0"/>
          </a:p>
        </p:txBody>
      </p:sp>
      <p:sp>
        <p:nvSpPr>
          <p:cNvPr id="20" name="Shape 18"/>
          <p:cNvSpPr/>
          <p:nvPr/>
        </p:nvSpPr>
        <p:spPr>
          <a:xfrm>
            <a:off x="801410" y="3745587"/>
            <a:ext cx="13027581" cy="554831"/>
          </a:xfrm>
          <a:prstGeom prst="rect">
            <a:avLst/>
          </a:prstGeom>
          <a:solidFill>
            <a:srgbClr val="000000">
              <a:alpha val="4000"/>
            </a:srgbClr>
          </a:solidFill>
          <a:ln/>
        </p:spPr>
      </p:sp>
      <p:sp>
        <p:nvSpPr>
          <p:cNvPr id="21" name="Text 19"/>
          <p:cNvSpPr/>
          <p:nvPr/>
        </p:nvSpPr>
        <p:spPr>
          <a:xfrm>
            <a:off x="994529" y="3868817"/>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覆盖率</a:t>
            </a:r>
            <a:endParaRPr lang="en-US" sz="1500" dirty="0"/>
          </a:p>
        </p:txBody>
      </p:sp>
      <p:sp>
        <p:nvSpPr>
          <p:cNvPr id="22" name="Text 20"/>
          <p:cNvSpPr/>
          <p:nvPr/>
        </p:nvSpPr>
        <p:spPr>
          <a:xfrm>
            <a:off x="3603784" y="3868817"/>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65%</a:t>
            </a:r>
            <a:endParaRPr lang="en-US" sz="1500" dirty="0"/>
          </a:p>
        </p:txBody>
      </p:sp>
      <p:sp>
        <p:nvSpPr>
          <p:cNvPr id="23" name="Text 21"/>
          <p:cNvSpPr/>
          <p:nvPr/>
        </p:nvSpPr>
        <p:spPr>
          <a:xfrm>
            <a:off x="6990874" y="3868817"/>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70%</a:t>
            </a:r>
            <a:endParaRPr lang="en-US" sz="1500" dirty="0"/>
          </a:p>
        </p:txBody>
      </p:sp>
      <p:sp>
        <p:nvSpPr>
          <p:cNvPr id="24" name="Text 22"/>
          <p:cNvSpPr/>
          <p:nvPr/>
        </p:nvSpPr>
        <p:spPr>
          <a:xfrm>
            <a:off x="10508218" y="3868817"/>
            <a:ext cx="3128010" cy="308372"/>
          </a:xfrm>
          <a:prstGeom prst="rect">
            <a:avLst/>
          </a:prstGeom>
          <a:noFill/>
          <a:ln/>
        </p:spPr>
        <p:txBody>
          <a:bodyPr wrap="none" lIns="0" tIns="0" rIns="0" bIns="0" rtlCol="0" anchor="t"/>
          <a:lstStyle/>
          <a:p>
            <a:pPr marL="0" indent="0" algn="l">
              <a:lnSpc>
                <a:spcPts val="2400"/>
              </a:lnSpc>
              <a:buNone/>
            </a:pPr>
            <a:r>
              <a:rPr lang="en-US" sz="1500" dirty="0">
                <a:solidFill>
                  <a:srgbClr val="5A6ED8"/>
                </a:solidFill>
                <a:latin typeface="Roboto" pitchFamily="34" charset="0"/>
                <a:ea typeface="Roboto" pitchFamily="34" charset="-122"/>
                <a:cs typeface="Roboto" pitchFamily="34" charset="-120"/>
              </a:rPr>
              <a:t>85%</a:t>
            </a:r>
            <a:endParaRPr lang="en-US" sz="1500" dirty="0"/>
          </a:p>
        </p:txBody>
      </p:sp>
      <p:sp>
        <p:nvSpPr>
          <p:cNvPr id="25" name="Shape 23"/>
          <p:cNvSpPr/>
          <p:nvPr/>
        </p:nvSpPr>
        <p:spPr>
          <a:xfrm>
            <a:off x="801410" y="4300418"/>
            <a:ext cx="13027581" cy="554831"/>
          </a:xfrm>
          <a:prstGeom prst="rect">
            <a:avLst/>
          </a:prstGeom>
          <a:solidFill>
            <a:srgbClr val="FFFFFF">
              <a:alpha val="4000"/>
            </a:srgbClr>
          </a:solidFill>
          <a:ln/>
        </p:spPr>
      </p:sp>
      <p:sp>
        <p:nvSpPr>
          <p:cNvPr id="26" name="Text 24"/>
          <p:cNvSpPr/>
          <p:nvPr/>
        </p:nvSpPr>
        <p:spPr>
          <a:xfrm>
            <a:off x="994529" y="4423648"/>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报告生成</a:t>
            </a:r>
            <a:endParaRPr lang="en-US" sz="1500" dirty="0"/>
          </a:p>
        </p:txBody>
      </p:sp>
      <p:sp>
        <p:nvSpPr>
          <p:cNvPr id="27" name="Text 25"/>
          <p:cNvSpPr/>
          <p:nvPr/>
        </p:nvSpPr>
        <p:spPr>
          <a:xfrm>
            <a:off x="3603784" y="4423648"/>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手工截图粘贴</a:t>
            </a:r>
            <a:endParaRPr lang="en-US" sz="1500" dirty="0"/>
          </a:p>
        </p:txBody>
      </p:sp>
      <p:sp>
        <p:nvSpPr>
          <p:cNvPr id="28" name="Text 26"/>
          <p:cNvSpPr/>
          <p:nvPr/>
        </p:nvSpPr>
        <p:spPr>
          <a:xfrm>
            <a:off x="6990874" y="4423648"/>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HTML/PDF(Word需处理)</a:t>
            </a:r>
            <a:endParaRPr lang="en-US" sz="1500" dirty="0"/>
          </a:p>
        </p:txBody>
      </p:sp>
      <p:sp>
        <p:nvSpPr>
          <p:cNvPr id="29" name="Text 27"/>
          <p:cNvSpPr/>
          <p:nvPr/>
        </p:nvSpPr>
        <p:spPr>
          <a:xfrm>
            <a:off x="10508218" y="4423648"/>
            <a:ext cx="3128010" cy="308372"/>
          </a:xfrm>
          <a:prstGeom prst="rect">
            <a:avLst/>
          </a:prstGeom>
          <a:noFill/>
          <a:ln/>
        </p:spPr>
        <p:txBody>
          <a:bodyPr wrap="none" lIns="0" tIns="0" rIns="0" bIns="0" rtlCol="0" anchor="t"/>
          <a:lstStyle/>
          <a:p>
            <a:pPr marL="0" indent="0" algn="l">
              <a:lnSpc>
                <a:spcPts val="2400"/>
              </a:lnSpc>
              <a:buNone/>
            </a:pPr>
            <a:r>
              <a:rPr lang="en-US" sz="1500" dirty="0">
                <a:solidFill>
                  <a:srgbClr val="5A6ED8"/>
                </a:solidFill>
                <a:latin typeface="Roboto" pitchFamily="34" charset="0"/>
                <a:ea typeface="Roboto" pitchFamily="34" charset="-122"/>
                <a:cs typeface="Roboto" pitchFamily="34" charset="-120"/>
              </a:rPr>
              <a:t>Word/PDF/HTML自动输出</a:t>
            </a:r>
            <a:endParaRPr lang="en-US" sz="1500" dirty="0"/>
          </a:p>
        </p:txBody>
      </p:sp>
      <p:sp>
        <p:nvSpPr>
          <p:cNvPr id="30" name="Shape 28"/>
          <p:cNvSpPr/>
          <p:nvPr/>
        </p:nvSpPr>
        <p:spPr>
          <a:xfrm>
            <a:off x="801410" y="4855250"/>
            <a:ext cx="13027581" cy="554831"/>
          </a:xfrm>
          <a:prstGeom prst="rect">
            <a:avLst/>
          </a:prstGeom>
          <a:solidFill>
            <a:srgbClr val="000000">
              <a:alpha val="4000"/>
            </a:srgbClr>
          </a:solidFill>
          <a:ln/>
        </p:spPr>
      </p:sp>
      <p:sp>
        <p:nvSpPr>
          <p:cNvPr id="31" name="Text 29"/>
          <p:cNvSpPr/>
          <p:nvPr/>
        </p:nvSpPr>
        <p:spPr>
          <a:xfrm>
            <a:off x="994529" y="4978479"/>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人为失误率</a:t>
            </a:r>
            <a:endParaRPr lang="en-US" sz="1500" dirty="0"/>
          </a:p>
        </p:txBody>
      </p:sp>
      <p:sp>
        <p:nvSpPr>
          <p:cNvPr id="32" name="Text 30"/>
          <p:cNvSpPr/>
          <p:nvPr/>
        </p:nvSpPr>
        <p:spPr>
          <a:xfrm>
            <a:off x="3603784" y="4978479"/>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5-10%</a:t>
            </a:r>
            <a:endParaRPr lang="en-US" sz="1500" dirty="0"/>
          </a:p>
        </p:txBody>
      </p:sp>
      <p:sp>
        <p:nvSpPr>
          <p:cNvPr id="33" name="Text 31"/>
          <p:cNvSpPr/>
          <p:nvPr/>
        </p:nvSpPr>
        <p:spPr>
          <a:xfrm>
            <a:off x="6990874" y="4978479"/>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3-5%</a:t>
            </a:r>
            <a:endParaRPr lang="en-US" sz="1500" dirty="0"/>
          </a:p>
        </p:txBody>
      </p:sp>
      <p:sp>
        <p:nvSpPr>
          <p:cNvPr id="34" name="Text 32"/>
          <p:cNvSpPr/>
          <p:nvPr/>
        </p:nvSpPr>
        <p:spPr>
          <a:xfrm>
            <a:off x="10508218" y="4978479"/>
            <a:ext cx="3128010" cy="308372"/>
          </a:xfrm>
          <a:prstGeom prst="rect">
            <a:avLst/>
          </a:prstGeom>
          <a:noFill/>
          <a:ln/>
        </p:spPr>
        <p:txBody>
          <a:bodyPr wrap="none" lIns="0" tIns="0" rIns="0" bIns="0" rtlCol="0" anchor="t"/>
          <a:lstStyle/>
          <a:p>
            <a:pPr marL="0" indent="0" algn="l">
              <a:lnSpc>
                <a:spcPts val="2400"/>
              </a:lnSpc>
              <a:buNone/>
            </a:pPr>
            <a:r>
              <a:rPr lang="en-US" sz="1500" dirty="0">
                <a:solidFill>
                  <a:srgbClr val="5A6ED8"/>
                </a:solidFill>
                <a:latin typeface="Roboto" pitchFamily="34" charset="0"/>
                <a:ea typeface="Roboto" pitchFamily="34" charset="-122"/>
                <a:cs typeface="Roboto" pitchFamily="34" charset="-120"/>
              </a:rPr>
              <a:t>&lt;1%</a:t>
            </a:r>
            <a:endParaRPr lang="en-US" sz="1500" dirty="0"/>
          </a:p>
        </p:txBody>
      </p:sp>
      <p:sp>
        <p:nvSpPr>
          <p:cNvPr id="35" name="Shape 33"/>
          <p:cNvSpPr/>
          <p:nvPr/>
        </p:nvSpPr>
        <p:spPr>
          <a:xfrm>
            <a:off x="801410" y="5410081"/>
            <a:ext cx="13027581" cy="554831"/>
          </a:xfrm>
          <a:prstGeom prst="rect">
            <a:avLst/>
          </a:prstGeom>
          <a:solidFill>
            <a:srgbClr val="FFFFFF">
              <a:alpha val="4000"/>
            </a:srgbClr>
          </a:solidFill>
          <a:ln/>
        </p:spPr>
      </p:sp>
      <p:sp>
        <p:nvSpPr>
          <p:cNvPr id="36" name="Text 34"/>
          <p:cNvSpPr/>
          <p:nvPr/>
        </p:nvSpPr>
        <p:spPr>
          <a:xfrm>
            <a:off x="994529" y="5533311"/>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学习曲线(使用)</a:t>
            </a:r>
            <a:endParaRPr lang="en-US" sz="1500" dirty="0"/>
          </a:p>
        </p:txBody>
      </p:sp>
      <p:sp>
        <p:nvSpPr>
          <p:cNvPr id="37" name="Text 35"/>
          <p:cNvSpPr/>
          <p:nvPr/>
        </p:nvSpPr>
        <p:spPr>
          <a:xfrm>
            <a:off x="3603784" y="5533311"/>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高</a:t>
            </a:r>
            <a:endParaRPr lang="en-US" sz="1500" dirty="0"/>
          </a:p>
        </p:txBody>
      </p:sp>
      <p:sp>
        <p:nvSpPr>
          <p:cNvPr id="38" name="Text 36"/>
          <p:cNvSpPr/>
          <p:nvPr/>
        </p:nvSpPr>
        <p:spPr>
          <a:xfrm>
            <a:off x="6990874" y="5533311"/>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低</a:t>
            </a:r>
            <a:endParaRPr lang="en-US" sz="1500" dirty="0"/>
          </a:p>
        </p:txBody>
      </p:sp>
      <p:sp>
        <p:nvSpPr>
          <p:cNvPr id="39" name="Text 37"/>
          <p:cNvSpPr/>
          <p:nvPr/>
        </p:nvSpPr>
        <p:spPr>
          <a:xfrm>
            <a:off x="10508218" y="5533311"/>
            <a:ext cx="3128010" cy="308372"/>
          </a:xfrm>
          <a:prstGeom prst="rect">
            <a:avLst/>
          </a:prstGeom>
          <a:noFill/>
          <a:ln/>
        </p:spPr>
        <p:txBody>
          <a:bodyPr wrap="none" lIns="0" tIns="0" rIns="0" bIns="0" rtlCol="0" anchor="t"/>
          <a:lstStyle/>
          <a:p>
            <a:pPr marL="0" indent="0" algn="l">
              <a:lnSpc>
                <a:spcPts val="2400"/>
              </a:lnSpc>
              <a:buNone/>
            </a:pPr>
            <a:r>
              <a:rPr lang="en-US" sz="1500" dirty="0" smtClean="0">
                <a:solidFill>
                  <a:srgbClr val="5A6ED8"/>
                </a:solidFill>
                <a:latin typeface="Roboto" pitchFamily="34" charset="0"/>
                <a:ea typeface="Roboto" pitchFamily="34" charset="-122"/>
                <a:cs typeface="Roboto" pitchFamily="34" charset="-120"/>
              </a:rPr>
              <a:t>低</a:t>
            </a:r>
            <a:endParaRPr lang="en-US" sz="1500" dirty="0"/>
          </a:p>
        </p:txBody>
      </p:sp>
      <p:sp>
        <p:nvSpPr>
          <p:cNvPr id="40" name="Shape 38"/>
          <p:cNvSpPr/>
          <p:nvPr/>
        </p:nvSpPr>
        <p:spPr>
          <a:xfrm>
            <a:off x="801410" y="5964912"/>
            <a:ext cx="13027581" cy="554831"/>
          </a:xfrm>
          <a:prstGeom prst="rect">
            <a:avLst/>
          </a:prstGeom>
          <a:solidFill>
            <a:srgbClr val="000000">
              <a:alpha val="4000"/>
            </a:srgbClr>
          </a:solidFill>
          <a:ln/>
        </p:spPr>
      </p:sp>
      <p:sp>
        <p:nvSpPr>
          <p:cNvPr id="41" name="Text 39"/>
          <p:cNvSpPr/>
          <p:nvPr/>
        </p:nvSpPr>
        <p:spPr>
          <a:xfrm>
            <a:off x="994529" y="6088142"/>
            <a:ext cx="221611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总拥有成本</a:t>
            </a:r>
            <a:endParaRPr lang="en-US" sz="1500" dirty="0"/>
          </a:p>
        </p:txBody>
      </p:sp>
      <p:sp>
        <p:nvSpPr>
          <p:cNvPr id="42" name="Text 40"/>
          <p:cNvSpPr/>
          <p:nvPr/>
        </p:nvSpPr>
        <p:spPr>
          <a:xfrm>
            <a:off x="3603784" y="6088142"/>
            <a:ext cx="2993946"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长期人工高</a:t>
            </a:r>
            <a:endParaRPr lang="en-US" sz="1500" dirty="0"/>
          </a:p>
        </p:txBody>
      </p:sp>
      <p:sp>
        <p:nvSpPr>
          <p:cNvPr id="43" name="Text 41"/>
          <p:cNvSpPr/>
          <p:nvPr/>
        </p:nvSpPr>
        <p:spPr>
          <a:xfrm>
            <a:off x="6990874" y="6088142"/>
            <a:ext cx="3124200" cy="308372"/>
          </a:xfrm>
          <a:prstGeom prst="rect">
            <a:avLst/>
          </a:prstGeom>
          <a:noFill/>
          <a:ln/>
        </p:spPr>
        <p:txBody>
          <a:bodyPr wrap="none" lIns="0" tIns="0" rIns="0" bIns="0" rtlCol="0" anchor="t"/>
          <a:lstStyle/>
          <a:p>
            <a:pPr marL="0" indent="0" algn="l">
              <a:lnSpc>
                <a:spcPts val="2400"/>
              </a:lnSpc>
              <a:buNone/>
            </a:pPr>
            <a:r>
              <a:rPr lang="en-US" sz="1500" dirty="0">
                <a:solidFill>
                  <a:srgbClr val="CFD0D8"/>
                </a:solidFill>
                <a:latin typeface="Roboto" pitchFamily="34" charset="0"/>
                <a:ea typeface="Roboto" pitchFamily="34" charset="-122"/>
                <a:cs typeface="Roboto" pitchFamily="34" charset="-120"/>
              </a:rPr>
              <a:t>许可+维护</a:t>
            </a:r>
            <a:endParaRPr lang="en-US" sz="1500" dirty="0"/>
          </a:p>
        </p:txBody>
      </p:sp>
      <p:sp>
        <p:nvSpPr>
          <p:cNvPr id="44" name="Text 42"/>
          <p:cNvSpPr/>
          <p:nvPr/>
        </p:nvSpPr>
        <p:spPr>
          <a:xfrm>
            <a:off x="10508218" y="6088142"/>
            <a:ext cx="3128010" cy="308372"/>
          </a:xfrm>
          <a:prstGeom prst="rect">
            <a:avLst/>
          </a:prstGeom>
          <a:noFill/>
          <a:ln/>
        </p:spPr>
        <p:txBody>
          <a:bodyPr wrap="none" lIns="0" tIns="0" rIns="0" bIns="0" rtlCol="0" anchor="t"/>
          <a:lstStyle/>
          <a:p>
            <a:pPr marL="0" indent="0" algn="l">
              <a:lnSpc>
                <a:spcPts val="2400"/>
              </a:lnSpc>
              <a:buNone/>
            </a:pPr>
            <a:r>
              <a:rPr lang="en-US" sz="1500" dirty="0">
                <a:solidFill>
                  <a:srgbClr val="5A6ED8"/>
                </a:solidFill>
                <a:latin typeface="Roboto" pitchFamily="34" charset="0"/>
                <a:ea typeface="Roboto" pitchFamily="34" charset="-122"/>
                <a:cs typeface="Roboto" pitchFamily="34" charset="-120"/>
              </a:rPr>
              <a:t>初期高后期低</a:t>
            </a:r>
            <a:endParaRPr lang="en-US" sz="1500" dirty="0"/>
          </a:p>
        </p:txBody>
      </p:sp>
      <p:sp>
        <p:nvSpPr>
          <p:cNvPr id="45" name="Text 43"/>
          <p:cNvSpPr/>
          <p:nvPr/>
        </p:nvSpPr>
        <p:spPr>
          <a:xfrm>
            <a:off x="1082993" y="6960989"/>
            <a:ext cx="12753618" cy="308372"/>
          </a:xfrm>
          <a:prstGeom prst="rect">
            <a:avLst/>
          </a:prstGeom>
          <a:noFill/>
          <a:ln/>
        </p:spPr>
        <p:txBody>
          <a:bodyPr wrap="none" lIns="0" tIns="0" rIns="0" bIns="0" rtlCol="0" anchor="t"/>
          <a:lstStyle/>
          <a:p>
            <a:pPr marL="0" indent="0" algn="l">
              <a:lnSpc>
                <a:spcPts val="2400"/>
              </a:lnSpc>
              <a:buNone/>
            </a:pPr>
            <a:r>
              <a:rPr lang="en-US" sz="1500" b="1" dirty="0">
                <a:solidFill>
                  <a:srgbClr val="CFD0D8"/>
                </a:solidFill>
                <a:latin typeface="Roboto" pitchFamily="34" charset="0"/>
                <a:ea typeface="Roboto" pitchFamily="34" charset="-122"/>
                <a:cs typeface="Roboto" pitchFamily="34" charset="-120"/>
              </a:rPr>
              <a:t>推荐选择</a:t>
            </a:r>
            <a:r>
              <a:rPr lang="en-US" sz="1500" dirty="0">
                <a:solidFill>
                  <a:srgbClr val="CFD0D8"/>
                </a:solidFill>
                <a:latin typeface="Roboto" pitchFamily="34" charset="0"/>
                <a:ea typeface="Roboto" pitchFamily="34" charset="-122"/>
                <a:cs typeface="Roboto" pitchFamily="34" charset="-120"/>
              </a:rPr>
              <a:t>：对于需要深度流程融合与质量精细化的大中型团队，</a:t>
            </a:r>
            <a:r>
              <a:rPr lang="en-US" sz="1500" dirty="0">
                <a:solidFill>
                  <a:srgbClr val="5A6ED8"/>
                </a:solidFill>
                <a:latin typeface="Roboto" pitchFamily="34" charset="0"/>
                <a:ea typeface="Roboto" pitchFamily="34" charset="-122"/>
                <a:cs typeface="Roboto" pitchFamily="34" charset="-120"/>
              </a:rPr>
              <a:t>自建Python参数化方案</a:t>
            </a:r>
            <a:r>
              <a:rPr lang="en-US" sz="1500" dirty="0">
                <a:solidFill>
                  <a:srgbClr val="CFD0D8"/>
                </a:solidFill>
                <a:latin typeface="Roboto" pitchFamily="34" charset="0"/>
                <a:ea typeface="Roboto" pitchFamily="34" charset="-122"/>
                <a:cs typeface="Roboto" pitchFamily="34" charset="-120"/>
              </a:rPr>
              <a:t>具备显著长期优势</a:t>
            </a:r>
            <a:endParaRPr lang="en-US" sz="1500" dirty="0"/>
          </a:p>
        </p:txBody>
      </p:sp>
      <p:sp>
        <p:nvSpPr>
          <p:cNvPr id="46" name="Shape 44"/>
          <p:cNvSpPr/>
          <p:nvPr/>
        </p:nvSpPr>
        <p:spPr>
          <a:xfrm>
            <a:off x="793790" y="6744176"/>
            <a:ext cx="22860" cy="741998"/>
          </a:xfrm>
          <a:prstGeom prst="rect">
            <a:avLst/>
          </a:prstGeom>
          <a:solidFill>
            <a:srgbClr val="5A6ED8"/>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311825"/>
            <a:ext cx="2026087" cy="230386"/>
          </a:xfrm>
          <a:prstGeom prst="rect">
            <a:avLst/>
          </a:prstGeom>
          <a:noFill/>
          <a:ln/>
        </p:spPr>
        <p:txBody>
          <a:bodyPr wrap="none" lIns="0" tIns="0" rIns="0" bIns="0" rtlCol="0" anchor="t"/>
          <a:lstStyle/>
          <a:p>
            <a:pPr marL="0" indent="0" algn="l">
              <a:lnSpc>
                <a:spcPts val="1800"/>
              </a:lnSpc>
              <a:buNone/>
            </a:pPr>
            <a:r>
              <a:rPr lang="en-US" sz="1450" dirty="0">
                <a:solidFill>
                  <a:srgbClr val="FFFFFF"/>
                </a:solidFill>
                <a:latin typeface="Roboto Medium" pitchFamily="34" charset="0"/>
                <a:ea typeface="Roboto Medium" pitchFamily="34" charset="-122"/>
                <a:cs typeface="Roboto Medium" pitchFamily="34" charset="-120"/>
              </a:rPr>
              <a:t>效益预估与用例对比分析</a:t>
            </a:r>
            <a:endParaRPr lang="en-US" sz="1450" dirty="0"/>
          </a:p>
        </p:txBody>
      </p:sp>
      <p:sp>
        <p:nvSpPr>
          <p:cNvPr id="3" name="Text 1"/>
          <p:cNvSpPr/>
          <p:nvPr/>
        </p:nvSpPr>
        <p:spPr>
          <a:xfrm>
            <a:off x="396835" y="726400"/>
            <a:ext cx="3390067"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40%</a:t>
            </a:r>
            <a:endParaRPr lang="en-US" sz="1900" dirty="0"/>
          </a:p>
        </p:txBody>
      </p:sp>
      <p:sp>
        <p:nvSpPr>
          <p:cNvPr id="4" name="Text 2"/>
          <p:cNvSpPr/>
          <p:nvPr/>
        </p:nvSpPr>
        <p:spPr>
          <a:xfrm>
            <a:off x="1631156" y="1061680"/>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耗时下降</a:t>
            </a:r>
            <a:endParaRPr lang="en-US" sz="700" dirty="0"/>
          </a:p>
        </p:txBody>
      </p:sp>
      <p:sp>
        <p:nvSpPr>
          <p:cNvPr id="5" name="Text 3"/>
          <p:cNvSpPr/>
          <p:nvPr/>
        </p:nvSpPr>
        <p:spPr>
          <a:xfrm>
            <a:off x="396835" y="1220986"/>
            <a:ext cx="3390067"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单用例从25分钟降至15分钟</a:t>
            </a:r>
            <a:endParaRPr lang="en-US" sz="550" dirty="0"/>
          </a:p>
        </p:txBody>
      </p:sp>
      <p:sp>
        <p:nvSpPr>
          <p:cNvPr id="6" name="Text 4"/>
          <p:cNvSpPr/>
          <p:nvPr/>
        </p:nvSpPr>
        <p:spPr>
          <a:xfrm>
            <a:off x="3878937" y="726400"/>
            <a:ext cx="3390186"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85%</a:t>
            </a:r>
            <a:endParaRPr lang="en-US" sz="1900" dirty="0"/>
          </a:p>
        </p:txBody>
      </p:sp>
      <p:sp>
        <p:nvSpPr>
          <p:cNvPr id="7" name="Text 5"/>
          <p:cNvSpPr/>
          <p:nvPr/>
        </p:nvSpPr>
        <p:spPr>
          <a:xfrm>
            <a:off x="5113258" y="1061680"/>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覆盖率目标</a:t>
            </a:r>
            <a:endParaRPr lang="en-US" sz="700" dirty="0"/>
          </a:p>
        </p:txBody>
      </p:sp>
      <p:sp>
        <p:nvSpPr>
          <p:cNvPr id="8" name="Text 6"/>
          <p:cNvSpPr/>
          <p:nvPr/>
        </p:nvSpPr>
        <p:spPr>
          <a:xfrm>
            <a:off x="3878937" y="1220986"/>
            <a:ext cx="3390186"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从65%提升至85%，全面覆盖正反向场景</a:t>
            </a:r>
            <a:endParaRPr lang="en-US" sz="550" dirty="0"/>
          </a:p>
        </p:txBody>
      </p:sp>
      <p:sp>
        <p:nvSpPr>
          <p:cNvPr id="9" name="Text 7"/>
          <p:cNvSpPr/>
          <p:nvPr/>
        </p:nvSpPr>
        <p:spPr>
          <a:xfrm>
            <a:off x="7361158" y="726400"/>
            <a:ext cx="3390186"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&lt;1%</a:t>
            </a:r>
            <a:endParaRPr lang="en-US" sz="1900" dirty="0"/>
          </a:p>
        </p:txBody>
      </p:sp>
      <p:sp>
        <p:nvSpPr>
          <p:cNvPr id="10" name="Text 8"/>
          <p:cNvSpPr/>
          <p:nvPr/>
        </p:nvSpPr>
        <p:spPr>
          <a:xfrm>
            <a:off x="8595479" y="1061680"/>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失误率</a:t>
            </a:r>
            <a:endParaRPr lang="en-US" sz="700" dirty="0"/>
          </a:p>
        </p:txBody>
      </p:sp>
      <p:sp>
        <p:nvSpPr>
          <p:cNvPr id="11" name="Text 9"/>
          <p:cNvSpPr/>
          <p:nvPr/>
        </p:nvSpPr>
        <p:spPr>
          <a:xfrm>
            <a:off x="7361158" y="1220986"/>
            <a:ext cx="3390186"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参数校验+自动截图，从5%降至1%以下</a:t>
            </a:r>
            <a:endParaRPr lang="en-US" sz="550" dirty="0"/>
          </a:p>
        </p:txBody>
      </p:sp>
      <p:sp>
        <p:nvSpPr>
          <p:cNvPr id="12" name="Text 10"/>
          <p:cNvSpPr/>
          <p:nvPr/>
        </p:nvSpPr>
        <p:spPr>
          <a:xfrm>
            <a:off x="10843379" y="726400"/>
            <a:ext cx="3390186"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100%</a:t>
            </a:r>
            <a:endParaRPr lang="en-US" sz="1900" dirty="0"/>
          </a:p>
        </p:txBody>
      </p:sp>
      <p:sp>
        <p:nvSpPr>
          <p:cNvPr id="13" name="Text 11"/>
          <p:cNvSpPr/>
          <p:nvPr/>
        </p:nvSpPr>
        <p:spPr>
          <a:xfrm>
            <a:off x="12077700" y="1061680"/>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报告自动化</a:t>
            </a:r>
            <a:endParaRPr lang="en-US" sz="700" dirty="0"/>
          </a:p>
        </p:txBody>
      </p:sp>
      <p:sp>
        <p:nvSpPr>
          <p:cNvPr id="14" name="Text 12"/>
          <p:cNvSpPr/>
          <p:nvPr/>
        </p:nvSpPr>
        <p:spPr>
          <a:xfrm>
            <a:off x="10843379" y="1220986"/>
            <a:ext cx="3390186"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整理时间从8分钟/用例降至0分钟</a:t>
            </a:r>
            <a:endParaRPr lang="en-US" sz="550" dirty="0"/>
          </a:p>
        </p:txBody>
      </p:sp>
      <p:pic>
        <p:nvPicPr>
          <p:cNvPr id="15" name="Image 0" descr="preencoded.png"/>
          <p:cNvPicPr>
            <a:picLocks noChangeAspect="1"/>
          </p:cNvPicPr>
          <p:nvPr/>
        </p:nvPicPr>
        <p:blipFill>
          <a:blip r:embed="rId3"/>
          <a:stretch>
            <a:fillRect/>
          </a:stretch>
        </p:blipFill>
        <p:spPr>
          <a:xfrm>
            <a:off x="396835" y="1421725"/>
            <a:ext cx="8993862" cy="4815245"/>
          </a:xfrm>
          <a:prstGeom prst="rect">
            <a:avLst/>
          </a:prstGeom>
        </p:spPr>
      </p:pic>
      <p:sp>
        <p:nvSpPr>
          <p:cNvPr id="16" name="Shape 13"/>
          <p:cNvSpPr/>
          <p:nvPr/>
        </p:nvSpPr>
        <p:spPr>
          <a:xfrm>
            <a:off x="4535686" y="6236970"/>
            <a:ext cx="73700" cy="73700"/>
          </a:xfrm>
          <a:prstGeom prst="roundRect">
            <a:avLst>
              <a:gd name="adj" fmla="val 24814"/>
            </a:avLst>
          </a:prstGeom>
          <a:solidFill>
            <a:srgbClr val="354DCF"/>
          </a:solidFill>
          <a:ln/>
        </p:spPr>
      </p:sp>
      <p:sp>
        <p:nvSpPr>
          <p:cNvPr id="17" name="Text 14"/>
          <p:cNvSpPr/>
          <p:nvPr/>
        </p:nvSpPr>
        <p:spPr>
          <a:xfrm>
            <a:off x="4670346" y="6236970"/>
            <a:ext cx="147161" cy="73700"/>
          </a:xfrm>
          <a:prstGeom prst="rect">
            <a:avLst/>
          </a:prstGeom>
          <a:noFill/>
          <a:ln/>
        </p:spPr>
        <p:txBody>
          <a:bodyPr wrap="none" lIns="0" tIns="0" rIns="0" bIns="0" rtlCol="0" anchor="t"/>
          <a:lstStyle/>
          <a:p>
            <a:pPr marL="0" indent="0" algn="l">
              <a:lnSpc>
                <a:spcPts val="550"/>
              </a:lnSpc>
              <a:buNone/>
            </a:pPr>
            <a:r>
              <a:rPr lang="en-US" sz="550" dirty="0">
                <a:solidFill>
                  <a:srgbClr val="CFD0D8"/>
                </a:solidFill>
                <a:latin typeface="Roboto" pitchFamily="34" charset="0"/>
                <a:ea typeface="Roboto" pitchFamily="34" charset="-122"/>
                <a:cs typeface="Roboto" pitchFamily="34" charset="-120"/>
              </a:rPr>
              <a:t>当前</a:t>
            </a:r>
            <a:endParaRPr lang="en-US" sz="550" dirty="0"/>
          </a:p>
        </p:txBody>
      </p:sp>
      <p:sp>
        <p:nvSpPr>
          <p:cNvPr id="18" name="Shape 15"/>
          <p:cNvSpPr/>
          <p:nvPr/>
        </p:nvSpPr>
        <p:spPr>
          <a:xfrm>
            <a:off x="4969907" y="6236970"/>
            <a:ext cx="73700" cy="73700"/>
          </a:xfrm>
          <a:prstGeom prst="roundRect">
            <a:avLst>
              <a:gd name="adj" fmla="val 24814"/>
            </a:avLst>
          </a:prstGeom>
          <a:solidFill>
            <a:srgbClr val="909DE5"/>
          </a:solidFill>
          <a:ln/>
        </p:spPr>
      </p:sp>
      <p:sp>
        <p:nvSpPr>
          <p:cNvPr id="19" name="Text 16"/>
          <p:cNvSpPr/>
          <p:nvPr/>
        </p:nvSpPr>
        <p:spPr>
          <a:xfrm>
            <a:off x="5104567" y="6236970"/>
            <a:ext cx="147161" cy="73700"/>
          </a:xfrm>
          <a:prstGeom prst="rect">
            <a:avLst/>
          </a:prstGeom>
          <a:noFill/>
          <a:ln/>
        </p:spPr>
        <p:txBody>
          <a:bodyPr wrap="none" lIns="0" tIns="0" rIns="0" bIns="0" rtlCol="0" anchor="t"/>
          <a:lstStyle/>
          <a:p>
            <a:pPr marL="0" indent="0" algn="l">
              <a:lnSpc>
                <a:spcPts val="550"/>
              </a:lnSpc>
              <a:buNone/>
            </a:pPr>
            <a:r>
              <a:rPr lang="en-US" sz="550" dirty="0">
                <a:solidFill>
                  <a:srgbClr val="CFD0D8"/>
                </a:solidFill>
                <a:latin typeface="Roboto" pitchFamily="34" charset="0"/>
                <a:ea typeface="Roboto" pitchFamily="34" charset="-122"/>
                <a:cs typeface="Roboto" pitchFamily="34" charset="-120"/>
              </a:rPr>
              <a:t>目标</a:t>
            </a:r>
            <a:endParaRPr lang="en-US" sz="550" dirty="0"/>
          </a:p>
        </p:txBody>
      </p:sp>
      <p:sp>
        <p:nvSpPr>
          <p:cNvPr id="20" name="Shape 17"/>
          <p:cNvSpPr/>
          <p:nvPr/>
        </p:nvSpPr>
        <p:spPr>
          <a:xfrm>
            <a:off x="396835" y="6577821"/>
            <a:ext cx="13836729" cy="16788"/>
          </a:xfrm>
          <a:prstGeom prst="rect">
            <a:avLst/>
          </a:prstGeom>
          <a:solidFill>
            <a:srgbClr val="CFD0D8">
              <a:alpha val="50000"/>
            </a:srgbClr>
          </a:solidFill>
          <a:ln/>
        </p:spPr>
      </p:sp>
      <p:sp>
        <p:nvSpPr>
          <p:cNvPr id="21" name="Text 18"/>
          <p:cNvSpPr/>
          <p:nvPr/>
        </p:nvSpPr>
        <p:spPr>
          <a:xfrm>
            <a:off x="396835" y="6705005"/>
            <a:ext cx="1474351" cy="184190"/>
          </a:xfrm>
          <a:prstGeom prst="rect">
            <a:avLst/>
          </a:prstGeom>
          <a:noFill/>
          <a:ln/>
        </p:spPr>
        <p:txBody>
          <a:bodyPr wrap="none" lIns="0" tIns="0" rIns="0" bIns="0" rtlCol="0" anchor="t"/>
          <a:lstStyle/>
          <a:p>
            <a:pPr marL="0" indent="0" algn="l">
              <a:lnSpc>
                <a:spcPts val="1450"/>
              </a:lnSpc>
              <a:buNone/>
            </a:pPr>
            <a:r>
              <a:rPr lang="en-US" sz="1150" dirty="0">
                <a:solidFill>
                  <a:srgbClr val="FFFFFF"/>
                </a:solidFill>
                <a:latin typeface="Roboto Medium" pitchFamily="34" charset="0"/>
                <a:ea typeface="Roboto Medium" pitchFamily="34" charset="-122"/>
                <a:cs typeface="Roboto Medium" pitchFamily="34" charset="-120"/>
              </a:rPr>
              <a:t>示例用例对比分析</a:t>
            </a:r>
            <a:endParaRPr lang="en-US" sz="1150" dirty="0"/>
          </a:p>
        </p:txBody>
      </p:sp>
      <p:sp>
        <p:nvSpPr>
          <p:cNvPr id="22" name="Text 19"/>
          <p:cNvSpPr/>
          <p:nvPr/>
        </p:nvSpPr>
        <p:spPr>
          <a:xfrm>
            <a:off x="396835" y="6999684"/>
            <a:ext cx="13836729" cy="117872"/>
          </a:xfrm>
          <a:prstGeom prst="rect">
            <a:avLst/>
          </a:prstGeom>
          <a:noFill/>
          <a:ln/>
        </p:spPr>
        <p:txBody>
          <a:bodyPr wrap="none" lIns="0" tIns="0" rIns="0" bIns="0" rtlCol="0" anchor="t"/>
          <a:lstStyle/>
          <a:p>
            <a:pPr marL="0" indent="0" algn="l">
              <a:lnSpc>
                <a:spcPts val="900"/>
              </a:lnSpc>
              <a:buNone/>
            </a:pPr>
            <a:r>
              <a:rPr lang="en-US" sz="550" dirty="0">
                <a:solidFill>
                  <a:srgbClr val="CFD0D8"/>
                </a:solidFill>
                <a:latin typeface="Roboto" pitchFamily="34" charset="0"/>
                <a:ea typeface="Roboto" pitchFamily="34" charset="-122"/>
                <a:cs typeface="Roboto" pitchFamily="34" charset="-120"/>
              </a:rPr>
              <a:t>以下流程图展示了三种测试方案在一个典型用例执行中的时间消耗对比。</a:t>
            </a:r>
            <a:endParaRPr lang="en-US" sz="550" dirty="0"/>
          </a:p>
        </p:txBody>
      </p:sp>
      <p:pic>
        <p:nvPicPr>
          <p:cNvPr id="23" name="Image 1" descr="preencoded.png"/>
          <p:cNvPicPr>
            <a:picLocks noChangeAspect="1"/>
          </p:cNvPicPr>
          <p:nvPr/>
        </p:nvPicPr>
        <p:blipFill>
          <a:blip r:embed="rId4"/>
          <a:stretch>
            <a:fillRect/>
          </a:stretch>
        </p:blipFill>
        <p:spPr>
          <a:xfrm>
            <a:off x="2818209" y="7200424"/>
            <a:ext cx="8993862" cy="3937516"/>
          </a:xfrm>
          <a:prstGeom prst="rect">
            <a:avLst/>
          </a:prstGeom>
        </p:spPr>
      </p:pic>
      <p:sp>
        <p:nvSpPr>
          <p:cNvPr id="24" name="Text 20"/>
          <p:cNvSpPr/>
          <p:nvPr/>
        </p:nvSpPr>
        <p:spPr>
          <a:xfrm>
            <a:off x="5837390" y="9194654"/>
            <a:ext cx="1054816" cy="245179"/>
          </a:xfrm>
          <a:prstGeom prst="rect">
            <a:avLst/>
          </a:prstGeom>
          <a:noFill/>
          <a:ln/>
        </p:spPr>
        <p:txBody>
          <a:bodyPr wrap="none" lIns="0" tIns="0" rIns="0" bIns="0" rtlCol="0" anchor="t"/>
          <a:lstStyle/>
          <a:p>
            <a:pPr marL="0" indent="0" algn="ctr">
              <a:lnSpc>
                <a:spcPts val="1650"/>
              </a:lnSpc>
              <a:buNone/>
            </a:pPr>
            <a:r>
              <a:rPr lang="en-US" sz="1350" dirty="0">
                <a:solidFill>
                  <a:srgbClr val="FFFFFF"/>
                </a:solidFill>
                <a:latin typeface="Roboto Medium" pitchFamily="34" charset="0"/>
                <a:ea typeface="Roboto Medium" pitchFamily="34" charset="-122"/>
                <a:cs typeface="Roboto Medium" pitchFamily="34" charset="-120"/>
              </a:rPr>
              <a:t>传统手工</a:t>
            </a:r>
            <a:endParaRPr lang="en-US" sz="1350" dirty="0"/>
          </a:p>
        </p:txBody>
      </p:sp>
      <p:sp>
        <p:nvSpPr>
          <p:cNvPr id="25" name="Text 21"/>
          <p:cNvSpPr/>
          <p:nvPr/>
        </p:nvSpPr>
        <p:spPr>
          <a:xfrm>
            <a:off x="7833695" y="9072064"/>
            <a:ext cx="1054816" cy="490359"/>
          </a:xfrm>
          <a:prstGeom prst="rect">
            <a:avLst/>
          </a:prstGeom>
          <a:noFill/>
          <a:ln/>
        </p:spPr>
        <p:txBody>
          <a:bodyPr wrap="square" lIns="0" tIns="0" rIns="0" bIns="0" rtlCol="0" anchor="t"/>
          <a:lstStyle/>
          <a:p>
            <a:pPr marL="0" indent="0" algn="ctr">
              <a:lnSpc>
                <a:spcPts val="1650"/>
              </a:lnSpc>
              <a:buNone/>
            </a:pPr>
            <a:r>
              <a:rPr lang="en-US" sz="1350" dirty="0">
                <a:solidFill>
                  <a:srgbClr val="FFFFFF"/>
                </a:solidFill>
                <a:latin typeface="Roboto Medium" pitchFamily="34" charset="0"/>
                <a:ea typeface="Roboto Medium" pitchFamily="34" charset="-122"/>
                <a:cs typeface="Roboto Medium" pitchFamily="34" charset="-120"/>
              </a:rPr>
              <a:t>自建Python方案</a:t>
            </a:r>
            <a:endParaRPr lang="en-US" sz="1350" dirty="0"/>
          </a:p>
        </p:txBody>
      </p:sp>
      <p:sp>
        <p:nvSpPr>
          <p:cNvPr id="26" name="Text 22"/>
          <p:cNvSpPr/>
          <p:nvPr/>
        </p:nvSpPr>
        <p:spPr>
          <a:xfrm>
            <a:off x="9673222" y="10378734"/>
            <a:ext cx="1917848" cy="196143"/>
          </a:xfrm>
          <a:prstGeom prst="rect">
            <a:avLst/>
          </a:prstGeom>
          <a:noFill/>
          <a:ln/>
        </p:spPr>
        <p:txBody>
          <a:bodyPr wrap="none" lIns="0" tIns="0" rIns="0" bIns="0" rtlCol="0" anchor="t"/>
          <a:lstStyle/>
          <a:p>
            <a:pPr marL="0" indent="0" algn="l">
              <a:lnSpc>
                <a:spcPts val="1350"/>
              </a:lnSpc>
              <a:buNone/>
            </a:pPr>
            <a:r>
              <a:rPr lang="en-US" sz="1050" dirty="0">
                <a:solidFill>
                  <a:srgbClr val="CFD0D8"/>
                </a:solidFill>
                <a:latin typeface="Roboto" pitchFamily="34" charset="0"/>
                <a:ea typeface="Roboto" pitchFamily="34" charset="-122"/>
                <a:cs typeface="Roboto" pitchFamily="34" charset="-120"/>
              </a:rPr>
              <a:t>总耗时: 33min</a:t>
            </a:r>
            <a:endParaRPr lang="en-US" sz="1050" dirty="0"/>
          </a:p>
        </p:txBody>
      </p:sp>
      <p:pic>
        <p:nvPicPr>
          <p:cNvPr id="27" name="Image 2" descr="preencoded.png"/>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9152215" y="10356259"/>
            <a:ext cx="241502" cy="241502"/>
          </a:xfrm>
          <a:prstGeom prst="rect">
            <a:avLst/>
          </a:prstGeom>
        </p:spPr>
      </p:pic>
      <p:sp>
        <p:nvSpPr>
          <p:cNvPr id="28" name="Text 23"/>
          <p:cNvSpPr/>
          <p:nvPr/>
        </p:nvSpPr>
        <p:spPr>
          <a:xfrm>
            <a:off x="9638351" y="8038087"/>
            <a:ext cx="1961436" cy="196143"/>
          </a:xfrm>
          <a:prstGeom prst="rect">
            <a:avLst/>
          </a:prstGeom>
          <a:noFill/>
          <a:ln/>
        </p:spPr>
        <p:txBody>
          <a:bodyPr wrap="none" lIns="0" tIns="0" rIns="0" bIns="0" rtlCol="0" anchor="t"/>
          <a:lstStyle/>
          <a:p>
            <a:pPr marL="0" indent="0" algn="l">
              <a:lnSpc>
                <a:spcPts val="1350"/>
              </a:lnSpc>
              <a:buNone/>
            </a:pPr>
            <a:r>
              <a:rPr lang="en-US" sz="1050" dirty="0">
                <a:solidFill>
                  <a:srgbClr val="CFD0D8"/>
                </a:solidFill>
                <a:latin typeface="Roboto" pitchFamily="34" charset="0"/>
                <a:ea typeface="Roboto" pitchFamily="34" charset="-122"/>
                <a:cs typeface="Roboto" pitchFamily="34" charset="-120"/>
              </a:rPr>
              <a:t>报告: 8min</a:t>
            </a:r>
            <a:endParaRPr lang="en-US" sz="1050" dirty="0"/>
          </a:p>
        </p:txBody>
      </p:sp>
      <p:pic>
        <p:nvPicPr>
          <p:cNvPr id="29" name="Image 3" descr="preencoded.png"/>
          <p:cNvPicPr>
            <a:picLocks noChangeAspect="1"/>
          </p:cNvPicPr>
          <p:nvPr/>
        </p:nvPicPr>
        <p:blipFill>
          <a:blip r:embed="rId5">
            <a:extLst>
              <a:ext uri="{96DAC541-7B7A-43D3-8B79-37D633B846F1}">
                <asvg:svgBlip xmlns:asvg="http://schemas.microsoft.com/office/drawing/2016/SVG/main" xmlns="" r:embed="rId7"/>
              </a:ext>
            </a:extLst>
          </a:blip>
          <a:stretch>
            <a:fillRect/>
          </a:stretch>
        </p:blipFill>
        <p:spPr>
          <a:xfrm>
            <a:off x="9157800" y="7996407"/>
            <a:ext cx="244499" cy="244499"/>
          </a:xfrm>
          <a:prstGeom prst="rect">
            <a:avLst/>
          </a:prstGeom>
        </p:spPr>
      </p:pic>
      <p:sp>
        <p:nvSpPr>
          <p:cNvPr id="30" name="Text 24"/>
          <p:cNvSpPr/>
          <p:nvPr/>
        </p:nvSpPr>
        <p:spPr>
          <a:xfrm>
            <a:off x="3152539" y="10361299"/>
            <a:ext cx="1909130" cy="196143"/>
          </a:xfrm>
          <a:prstGeom prst="rect">
            <a:avLst/>
          </a:prstGeom>
          <a:noFill/>
          <a:ln/>
        </p:spPr>
        <p:txBody>
          <a:bodyPr wrap="none" lIns="0" tIns="0" rIns="0" bIns="0" rtlCol="0" anchor="t"/>
          <a:lstStyle/>
          <a:p>
            <a:pPr marL="0" indent="0" algn="r">
              <a:lnSpc>
                <a:spcPts val="1350"/>
              </a:lnSpc>
              <a:buNone/>
            </a:pPr>
            <a:r>
              <a:rPr lang="en-US" sz="1050" dirty="0">
                <a:solidFill>
                  <a:srgbClr val="CFD0D8"/>
                </a:solidFill>
                <a:latin typeface="Roboto" pitchFamily="34" charset="0"/>
                <a:ea typeface="Roboto" pitchFamily="34" charset="-122"/>
                <a:cs typeface="Roboto" pitchFamily="34" charset="-120"/>
              </a:rPr>
              <a:t>执行: 20min</a:t>
            </a:r>
            <a:endParaRPr lang="en-US" sz="1050" dirty="0"/>
          </a:p>
        </p:txBody>
      </p:sp>
      <p:pic>
        <p:nvPicPr>
          <p:cNvPr id="31" name="Image 4" descr="preencoded.png"/>
          <p:cNvPicPr>
            <a:picLocks noChangeAspect="1"/>
          </p:cNvPicPr>
          <p:nvPr/>
        </p:nvPicPr>
        <p:blipFill>
          <a:blip r:embed="rId5">
            <a:extLst>
              <a:ext uri="{96DAC541-7B7A-43D3-8B79-37D633B846F1}">
                <asvg:svgBlip xmlns:asvg="http://schemas.microsoft.com/office/drawing/2016/SVG/main" xmlns="" r:embed="rId8"/>
              </a:ext>
            </a:extLst>
          </a:blip>
          <a:stretch>
            <a:fillRect/>
          </a:stretch>
        </p:blipFill>
        <p:spPr>
          <a:xfrm>
            <a:off x="5320878" y="10373285"/>
            <a:ext cx="241502" cy="241502"/>
          </a:xfrm>
          <a:prstGeom prst="rect">
            <a:avLst/>
          </a:prstGeom>
        </p:spPr>
      </p:pic>
      <p:sp>
        <p:nvSpPr>
          <p:cNvPr id="32" name="Text 25"/>
          <p:cNvSpPr/>
          <p:nvPr/>
        </p:nvSpPr>
        <p:spPr>
          <a:xfrm>
            <a:off x="3108951" y="8038087"/>
            <a:ext cx="1961435" cy="196143"/>
          </a:xfrm>
          <a:prstGeom prst="rect">
            <a:avLst/>
          </a:prstGeom>
          <a:noFill/>
          <a:ln/>
        </p:spPr>
        <p:txBody>
          <a:bodyPr wrap="none" lIns="0" tIns="0" rIns="0" bIns="0" rtlCol="0" anchor="t"/>
          <a:lstStyle/>
          <a:p>
            <a:pPr marL="0" indent="0" algn="r">
              <a:lnSpc>
                <a:spcPts val="1350"/>
              </a:lnSpc>
              <a:buNone/>
            </a:pPr>
            <a:r>
              <a:rPr lang="en-US" sz="1050" dirty="0">
                <a:solidFill>
                  <a:srgbClr val="CFD0D8"/>
                </a:solidFill>
                <a:latin typeface="Roboto" pitchFamily="34" charset="0"/>
                <a:ea typeface="Roboto" pitchFamily="34" charset="-122"/>
                <a:cs typeface="Roboto" pitchFamily="34" charset="-120"/>
              </a:rPr>
              <a:t>准备: 5min</a:t>
            </a:r>
            <a:endParaRPr lang="en-US" sz="1050" dirty="0"/>
          </a:p>
        </p:txBody>
      </p:sp>
      <p:pic>
        <p:nvPicPr>
          <p:cNvPr id="33" name="Image 5" descr="preencoded.png"/>
          <p:cNvPicPr>
            <a:picLocks noChangeAspect="1"/>
          </p:cNvPicPr>
          <p:nvPr/>
        </p:nvPicPr>
        <p:blipFill>
          <a:blip r:embed="rId5">
            <a:extLst>
              <a:ext uri="{96DAC541-7B7A-43D3-8B79-37D633B846F1}">
                <asvg:svgBlip xmlns:asvg="http://schemas.microsoft.com/office/drawing/2016/SVG/main" xmlns="" r:embed="rId10"/>
              </a:ext>
            </a:extLst>
          </a:blip>
          <a:stretch>
            <a:fillRect/>
          </a:stretch>
        </p:blipFill>
        <p:spPr>
          <a:xfrm>
            <a:off x="5291048" y="7997905"/>
            <a:ext cx="241502" cy="241502"/>
          </a:xfrm>
          <a:prstGeom prst="rect">
            <a:avLst/>
          </a:prstGeom>
        </p:spPr>
      </p:pic>
      <p:sp>
        <p:nvSpPr>
          <p:cNvPr id="34" name="Text 26"/>
          <p:cNvSpPr/>
          <p:nvPr/>
        </p:nvSpPr>
        <p:spPr>
          <a:xfrm>
            <a:off x="396835" y="11248430"/>
            <a:ext cx="1105733" cy="138232"/>
          </a:xfrm>
          <a:prstGeom prst="rect">
            <a:avLst/>
          </a:prstGeom>
          <a:noFill/>
          <a:ln/>
        </p:spPr>
        <p:txBody>
          <a:bodyPr wrap="none" lIns="0" tIns="0" rIns="0" bIns="0" rtlCol="0" anchor="t"/>
          <a:lstStyle/>
          <a:p>
            <a:pPr marL="0" indent="0" algn="l">
              <a:lnSpc>
                <a:spcPts val="1050"/>
              </a:lnSpc>
              <a:buNone/>
            </a:pPr>
            <a:r>
              <a:rPr lang="en-US" sz="850" dirty="0">
                <a:solidFill>
                  <a:srgbClr val="FFFFFF"/>
                </a:solidFill>
                <a:latin typeface="Roboto Medium" pitchFamily="34" charset="0"/>
                <a:ea typeface="Roboto Medium" pitchFamily="34" charset="-122"/>
                <a:cs typeface="Roboto Medium" pitchFamily="34" charset="-120"/>
              </a:rPr>
              <a:t>总耗时降低统计</a:t>
            </a:r>
            <a:endParaRPr lang="en-US" sz="850" dirty="0"/>
          </a:p>
        </p:txBody>
      </p:sp>
      <p:sp>
        <p:nvSpPr>
          <p:cNvPr id="35" name="Text 27"/>
          <p:cNvSpPr/>
          <p:nvPr/>
        </p:nvSpPr>
        <p:spPr>
          <a:xfrm>
            <a:off x="396835" y="11533942"/>
            <a:ext cx="3390067"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25分钟</a:t>
            </a:r>
            <a:endParaRPr lang="en-US" sz="1900" dirty="0"/>
          </a:p>
        </p:txBody>
      </p:sp>
      <p:sp>
        <p:nvSpPr>
          <p:cNvPr id="36" name="Text 28"/>
          <p:cNvSpPr/>
          <p:nvPr/>
        </p:nvSpPr>
        <p:spPr>
          <a:xfrm>
            <a:off x="1631156" y="11869222"/>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传统手工</a:t>
            </a:r>
            <a:endParaRPr lang="en-US" sz="700" dirty="0"/>
          </a:p>
        </p:txBody>
      </p:sp>
      <p:sp>
        <p:nvSpPr>
          <p:cNvPr id="37" name="Text 29"/>
          <p:cNvSpPr/>
          <p:nvPr/>
        </p:nvSpPr>
        <p:spPr>
          <a:xfrm>
            <a:off x="396835" y="12028527"/>
            <a:ext cx="3390067"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单个用例的总耗时</a:t>
            </a:r>
            <a:endParaRPr lang="en-US" sz="550" dirty="0"/>
          </a:p>
        </p:txBody>
      </p:sp>
      <p:sp>
        <p:nvSpPr>
          <p:cNvPr id="38" name="Text 30"/>
          <p:cNvSpPr/>
          <p:nvPr/>
        </p:nvSpPr>
        <p:spPr>
          <a:xfrm>
            <a:off x="3878937" y="11533942"/>
            <a:ext cx="3390186"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18分钟</a:t>
            </a:r>
            <a:endParaRPr lang="en-US" sz="1900" dirty="0"/>
          </a:p>
        </p:txBody>
      </p:sp>
      <p:sp>
        <p:nvSpPr>
          <p:cNvPr id="39" name="Text 31"/>
          <p:cNvSpPr/>
          <p:nvPr/>
        </p:nvSpPr>
        <p:spPr>
          <a:xfrm>
            <a:off x="5113258" y="11869222"/>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Katalon</a:t>
            </a:r>
            <a:endParaRPr lang="en-US" sz="700" dirty="0"/>
          </a:p>
        </p:txBody>
      </p:sp>
      <p:sp>
        <p:nvSpPr>
          <p:cNvPr id="40" name="Text 32"/>
          <p:cNvSpPr/>
          <p:nvPr/>
        </p:nvSpPr>
        <p:spPr>
          <a:xfrm>
            <a:off x="3878937" y="12028527"/>
            <a:ext cx="3390186"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单个用例的总耗时</a:t>
            </a:r>
            <a:endParaRPr lang="en-US" sz="550" dirty="0"/>
          </a:p>
        </p:txBody>
      </p:sp>
      <p:sp>
        <p:nvSpPr>
          <p:cNvPr id="41" name="Text 33"/>
          <p:cNvSpPr/>
          <p:nvPr/>
        </p:nvSpPr>
        <p:spPr>
          <a:xfrm>
            <a:off x="7361158" y="11533942"/>
            <a:ext cx="3390186"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5分钟</a:t>
            </a:r>
            <a:endParaRPr lang="en-US" sz="1900" dirty="0"/>
          </a:p>
        </p:txBody>
      </p:sp>
      <p:sp>
        <p:nvSpPr>
          <p:cNvPr id="42" name="Text 34"/>
          <p:cNvSpPr/>
          <p:nvPr/>
        </p:nvSpPr>
        <p:spPr>
          <a:xfrm>
            <a:off x="8595479" y="11869222"/>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自建Python方案</a:t>
            </a:r>
            <a:endParaRPr lang="en-US" sz="700" dirty="0"/>
          </a:p>
        </p:txBody>
      </p:sp>
      <p:sp>
        <p:nvSpPr>
          <p:cNvPr id="43" name="Text 35"/>
          <p:cNvSpPr/>
          <p:nvPr/>
        </p:nvSpPr>
        <p:spPr>
          <a:xfrm>
            <a:off x="7361158" y="12028527"/>
            <a:ext cx="3390186"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单个用例的总耗时</a:t>
            </a:r>
            <a:endParaRPr lang="en-US" sz="550" dirty="0"/>
          </a:p>
        </p:txBody>
      </p:sp>
      <p:sp>
        <p:nvSpPr>
          <p:cNvPr id="44" name="Text 36"/>
          <p:cNvSpPr/>
          <p:nvPr/>
        </p:nvSpPr>
        <p:spPr>
          <a:xfrm>
            <a:off x="10843379" y="11533942"/>
            <a:ext cx="3390186" cy="243245"/>
          </a:xfrm>
          <a:prstGeom prst="rect">
            <a:avLst/>
          </a:prstGeom>
          <a:noFill/>
          <a:ln/>
        </p:spPr>
        <p:txBody>
          <a:bodyPr wrap="none" lIns="0" tIns="0" rIns="0" bIns="0" rtlCol="0" anchor="t"/>
          <a:lstStyle/>
          <a:p>
            <a:pPr marL="0" indent="0" algn="ctr">
              <a:lnSpc>
                <a:spcPts val="1900"/>
              </a:lnSpc>
              <a:buNone/>
            </a:pPr>
            <a:r>
              <a:rPr lang="en-US" sz="1900" dirty="0">
                <a:solidFill>
                  <a:srgbClr val="CFD0D8"/>
                </a:solidFill>
                <a:latin typeface="Roboto Medium" pitchFamily="34" charset="0"/>
                <a:ea typeface="Roboto Medium" pitchFamily="34" charset="-122"/>
                <a:cs typeface="Roboto Medium" pitchFamily="34" charset="-120"/>
              </a:rPr>
              <a:t>80%</a:t>
            </a:r>
            <a:endParaRPr lang="en-US" sz="1900" dirty="0"/>
          </a:p>
        </p:txBody>
      </p:sp>
      <p:sp>
        <p:nvSpPr>
          <p:cNvPr id="45" name="Text 37"/>
          <p:cNvSpPr/>
          <p:nvPr/>
        </p:nvSpPr>
        <p:spPr>
          <a:xfrm>
            <a:off x="12077700" y="11869222"/>
            <a:ext cx="921425" cy="115133"/>
          </a:xfrm>
          <a:prstGeom prst="rect">
            <a:avLst/>
          </a:prstGeom>
          <a:noFill/>
          <a:ln/>
        </p:spPr>
        <p:txBody>
          <a:bodyPr wrap="none" lIns="0" tIns="0" rIns="0" bIns="0" rtlCol="0" anchor="t"/>
          <a:lstStyle/>
          <a:p>
            <a:pPr marL="0" indent="0" algn="ctr">
              <a:lnSpc>
                <a:spcPts val="900"/>
              </a:lnSpc>
              <a:buNone/>
            </a:pPr>
            <a:r>
              <a:rPr lang="en-US" sz="700" dirty="0">
                <a:solidFill>
                  <a:srgbClr val="CFD0D8"/>
                </a:solidFill>
                <a:latin typeface="Roboto Medium" pitchFamily="34" charset="0"/>
                <a:ea typeface="Roboto Medium" pitchFamily="34" charset="-122"/>
                <a:cs typeface="Roboto Medium" pitchFamily="34" charset="-120"/>
              </a:rPr>
              <a:t>时间缩减</a:t>
            </a:r>
            <a:endParaRPr lang="en-US" sz="700" dirty="0"/>
          </a:p>
        </p:txBody>
      </p:sp>
      <p:sp>
        <p:nvSpPr>
          <p:cNvPr id="46" name="Text 38"/>
          <p:cNvSpPr/>
          <p:nvPr/>
        </p:nvSpPr>
        <p:spPr>
          <a:xfrm>
            <a:off x="10843379" y="12028527"/>
            <a:ext cx="3390186" cy="117872"/>
          </a:xfrm>
          <a:prstGeom prst="rect">
            <a:avLst/>
          </a:prstGeom>
          <a:noFill/>
          <a:ln/>
        </p:spPr>
        <p:txBody>
          <a:bodyPr wrap="none" lIns="0" tIns="0" rIns="0" bIns="0" rtlCol="0" anchor="t"/>
          <a:lstStyle/>
          <a:p>
            <a:pPr marL="0" indent="0" algn="ctr">
              <a:lnSpc>
                <a:spcPts val="900"/>
              </a:lnSpc>
              <a:buNone/>
            </a:pPr>
            <a:r>
              <a:rPr lang="en-US" sz="550" dirty="0">
                <a:solidFill>
                  <a:srgbClr val="CFD0D8"/>
                </a:solidFill>
                <a:latin typeface="Roboto" pitchFamily="34" charset="0"/>
                <a:ea typeface="Roboto" pitchFamily="34" charset="-122"/>
                <a:cs typeface="Roboto" pitchFamily="34" charset="-120"/>
              </a:rPr>
              <a:t>自建Python方案相对于传统手工的总时间缩减</a:t>
            </a:r>
            <a:endParaRPr lang="en-US" sz="550" dirty="0"/>
          </a:p>
        </p:txBody>
      </p:sp>
      <p:sp>
        <p:nvSpPr>
          <p:cNvPr id="47" name="Text 39"/>
          <p:cNvSpPr/>
          <p:nvPr/>
        </p:nvSpPr>
        <p:spPr>
          <a:xfrm>
            <a:off x="396835" y="12229267"/>
            <a:ext cx="13836729" cy="117872"/>
          </a:xfrm>
          <a:prstGeom prst="rect">
            <a:avLst/>
          </a:prstGeom>
          <a:noFill/>
          <a:ln/>
        </p:spPr>
        <p:txBody>
          <a:bodyPr wrap="none" lIns="0" tIns="0" rIns="0" bIns="0" rtlCol="0" anchor="t"/>
          <a:lstStyle/>
          <a:p>
            <a:pPr marL="0" indent="0" algn="l">
              <a:lnSpc>
                <a:spcPts val="900"/>
              </a:lnSpc>
              <a:buNone/>
            </a:pPr>
            <a:r>
              <a:rPr lang="en-US" sz="550" dirty="0">
                <a:solidFill>
                  <a:srgbClr val="CFD0D8"/>
                </a:solidFill>
                <a:latin typeface="Roboto" pitchFamily="34" charset="0"/>
                <a:ea typeface="Roboto" pitchFamily="34" charset="-122"/>
                <a:cs typeface="Roboto" pitchFamily="34" charset="-120"/>
              </a:rPr>
              <a:t>通过自建Python方案，单个用例的整体执行和报告生成时间从</a:t>
            </a:r>
            <a:r>
              <a:rPr lang="en-US" sz="550" b="1" dirty="0">
                <a:solidFill>
                  <a:srgbClr val="CFD0D8"/>
                </a:solidFill>
                <a:latin typeface="Roboto" pitchFamily="34" charset="0"/>
                <a:ea typeface="Roboto" pitchFamily="34" charset="-122"/>
                <a:cs typeface="Roboto" pitchFamily="34" charset="-120"/>
              </a:rPr>
              <a:t>25分钟</a:t>
            </a:r>
            <a:r>
              <a:rPr lang="en-US" sz="550" dirty="0">
                <a:solidFill>
                  <a:srgbClr val="CFD0D8"/>
                </a:solidFill>
                <a:latin typeface="Roboto" pitchFamily="34" charset="0"/>
                <a:ea typeface="Roboto" pitchFamily="34" charset="-122"/>
                <a:cs typeface="Roboto" pitchFamily="34" charset="-120"/>
              </a:rPr>
              <a:t>大幅缩短至</a:t>
            </a:r>
            <a:r>
              <a:rPr lang="en-US" sz="550" b="1" dirty="0">
                <a:solidFill>
                  <a:srgbClr val="CFD0D8"/>
                </a:solidFill>
                <a:latin typeface="Roboto" pitchFamily="34" charset="0"/>
                <a:ea typeface="Roboto" pitchFamily="34" charset="-122"/>
                <a:cs typeface="Roboto" pitchFamily="34" charset="-120"/>
              </a:rPr>
              <a:t>5分钟</a:t>
            </a:r>
            <a:r>
              <a:rPr lang="en-US" sz="550" dirty="0">
                <a:solidFill>
                  <a:srgbClr val="CFD0D8"/>
                </a:solidFill>
                <a:latin typeface="Roboto" pitchFamily="34" charset="0"/>
                <a:ea typeface="Roboto" pitchFamily="34" charset="-122"/>
                <a:cs typeface="Roboto" pitchFamily="34" charset="-120"/>
              </a:rPr>
              <a:t>，效率提升显著。</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3879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Roboto Medium" pitchFamily="34" charset="0"/>
                <a:ea typeface="Roboto Medium" pitchFamily="34" charset="-122"/>
                <a:cs typeface="Roboto Medium" pitchFamily="34" charset="-120"/>
              </a:rPr>
              <a:t>Demo演示</a:t>
            </a:r>
            <a:endParaRPr lang="en-US" sz="4450" dirty="0"/>
          </a:p>
        </p:txBody>
      </p:sp>
      <p:sp>
        <p:nvSpPr>
          <p:cNvPr id="4" name="Text 1"/>
          <p:cNvSpPr/>
          <p:nvPr/>
        </p:nvSpPr>
        <p:spPr>
          <a:xfrm>
            <a:off x="793790" y="2114550"/>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FFFFFF"/>
                </a:solidFill>
                <a:latin typeface="Roboto Medium" pitchFamily="34" charset="0"/>
                <a:ea typeface="Roboto Medium" pitchFamily="34" charset="-122"/>
                <a:cs typeface="Roboto Medium" pitchFamily="34" charset="-120"/>
              </a:rPr>
              <a:t>核心功能展示</a:t>
            </a:r>
            <a:endParaRPr lang="en-US" sz="2650" dirty="0"/>
          </a:p>
        </p:txBody>
      </p:sp>
      <p:sp>
        <p:nvSpPr>
          <p:cNvPr id="5" name="Text 2"/>
          <p:cNvSpPr/>
          <p:nvPr/>
        </p:nvSpPr>
        <p:spPr>
          <a:xfrm>
            <a:off x="793790" y="2766655"/>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参数化配置与批量执行</a:t>
            </a:r>
            <a:endParaRPr lang="en-US" sz="1750" dirty="0"/>
          </a:p>
        </p:txBody>
      </p:sp>
      <p:sp>
        <p:nvSpPr>
          <p:cNvPr id="6" name="Text 3"/>
          <p:cNvSpPr/>
          <p:nvPr/>
        </p:nvSpPr>
        <p:spPr>
          <a:xfrm>
            <a:off x="793790" y="3208853"/>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实时执行监控与日志</a:t>
            </a:r>
            <a:endParaRPr lang="en-US" sz="1750" dirty="0"/>
          </a:p>
        </p:txBody>
      </p:sp>
      <p:sp>
        <p:nvSpPr>
          <p:cNvPr id="7" name="Text 4"/>
          <p:cNvSpPr/>
          <p:nvPr/>
        </p:nvSpPr>
        <p:spPr>
          <a:xfrm>
            <a:off x="793790" y="3651052"/>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自动截图与证据归档</a:t>
            </a:r>
            <a:endParaRPr lang="en-US" sz="1750" dirty="0"/>
          </a:p>
        </p:txBody>
      </p:sp>
      <p:sp>
        <p:nvSpPr>
          <p:cNvPr id="8" name="Text 5"/>
          <p:cNvSpPr/>
          <p:nvPr/>
        </p:nvSpPr>
        <p:spPr>
          <a:xfrm>
            <a:off x="793790" y="4093250"/>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FD0D8"/>
                </a:solidFill>
                <a:latin typeface="Roboto" pitchFamily="34" charset="0"/>
                <a:ea typeface="Roboto" pitchFamily="34" charset="-122"/>
                <a:cs typeface="Roboto" pitchFamily="34" charset="-120"/>
              </a:rPr>
              <a:t>Word/PDF报告一键生成</a:t>
            </a:r>
            <a:endParaRPr lang="en-US" sz="1750" dirty="0"/>
          </a:p>
        </p:txBody>
      </p:sp>
      <p:pic>
        <p:nvPicPr>
          <p:cNvPr id="9" name="Image 1" descr="preencoded.png"/>
          <p:cNvPicPr>
            <a:picLocks noChangeAspect="1"/>
          </p:cNvPicPr>
          <p:nvPr/>
        </p:nvPicPr>
        <p:blipFill>
          <a:blip r:embed="rId4"/>
          <a:stretch>
            <a:fillRect/>
          </a:stretch>
        </p:blipFill>
        <p:spPr>
          <a:xfrm>
            <a:off x="4856321" y="2142887"/>
            <a:ext cx="3501509" cy="3501509"/>
          </a:xfrm>
          <a:prstGeom prst="rect">
            <a:avLst/>
          </a:prstGeom>
        </p:spPr>
      </p:pic>
      <p:sp>
        <p:nvSpPr>
          <p:cNvPr id="10" name="Text 6"/>
          <p:cNvSpPr/>
          <p:nvPr/>
        </p:nvSpPr>
        <p:spPr>
          <a:xfrm>
            <a:off x="1133951" y="6409849"/>
            <a:ext cx="7216259" cy="725805"/>
          </a:xfrm>
          <a:prstGeom prst="rect">
            <a:avLst/>
          </a:prstGeom>
          <a:noFill/>
          <a:ln/>
        </p:spPr>
        <p:txBody>
          <a:bodyPr wrap="square" lIns="0" tIns="0" rIns="0" bIns="0" rtlCol="0" anchor="t"/>
          <a:lstStyle/>
          <a:p>
            <a:pPr marL="0" indent="0" algn="l">
              <a:lnSpc>
                <a:spcPts val="2850"/>
              </a:lnSpc>
              <a:buNone/>
            </a:pPr>
            <a:r>
              <a:rPr lang="en-US" sz="1750" dirty="0">
                <a:solidFill>
                  <a:srgbClr val="5A6ED8"/>
                </a:solidFill>
                <a:latin typeface="Roboto" pitchFamily="34" charset="0"/>
                <a:ea typeface="Roboto" pitchFamily="34" charset="-122"/>
                <a:cs typeface="Roboto" pitchFamily="34" charset="-120"/>
              </a:rPr>
              <a:t>立即体验</a:t>
            </a:r>
            <a:r>
              <a:rPr lang="en-US" sz="1750" dirty="0">
                <a:solidFill>
                  <a:srgbClr val="CFD0D8"/>
                </a:solidFill>
                <a:latin typeface="Roboto" pitchFamily="34" charset="0"/>
                <a:ea typeface="Roboto" pitchFamily="34" charset="-122"/>
                <a:cs typeface="Roboto" pitchFamily="34" charset="-120"/>
              </a:rPr>
              <a:t>：通过实际演示了解如何在5分钟内完成完整测试用例执行与报告生成</a:t>
            </a:r>
            <a:endParaRPr lang="en-US" sz="1750" dirty="0"/>
          </a:p>
        </p:txBody>
      </p:sp>
      <p:sp>
        <p:nvSpPr>
          <p:cNvPr id="11" name="Shape 7"/>
          <p:cNvSpPr/>
          <p:nvPr/>
        </p:nvSpPr>
        <p:spPr>
          <a:xfrm>
            <a:off x="793790" y="6154698"/>
            <a:ext cx="30480" cy="1236107"/>
          </a:xfrm>
          <a:prstGeom prst="rect">
            <a:avLst/>
          </a:prstGeom>
          <a:solidFill>
            <a:srgbClr val="5A6ED8"/>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272</Words>
  <Application>Microsoft Office PowerPoint</Application>
  <PresentationFormat>自定义</PresentationFormat>
  <Paragraphs>116</Paragraphs>
  <Slides>7</Slides>
  <Notes>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7</vt:i4>
      </vt:variant>
    </vt:vector>
  </HeadingPairs>
  <TitlesOfParts>
    <vt:vector size="12" baseType="lpstr">
      <vt:lpstr>Roboto</vt:lpstr>
      <vt:lpstr>Arial</vt:lpstr>
      <vt:lpstr>Roboto Medium</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lastModifiedBy>admin</cp:lastModifiedBy>
  <cp:revision>2</cp:revision>
  <dcterms:created xsi:type="dcterms:W3CDTF">2025-11-06T18:44:03Z</dcterms:created>
  <dcterms:modified xsi:type="dcterms:W3CDTF">2025-11-07T00:19:22Z</dcterms:modified>
</cp:coreProperties>
</file>